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381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5200" b="1" i="0">
                <a:solidFill>
                  <a:srgbClr val="FFFFFF"/>
                </a:solidFill>
                <a:latin typeface="Calibri"/>
              </a:rPr>
              <a:t>EgoPed</a:t>
            </a:r>
          </a:p>
          <a:p>
            <a:r>
              <a:rPr sz="2400" b="0" i="0">
                <a:solidFill>
                  <a:srgbClr val="CFE1F5"/>
                </a:solidFill>
                <a:latin typeface="Calibri"/>
              </a:rPr>
              <a:t>Ego-Conditioned Pedestrian Body Motion Generation via Latent Diffusion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500" b="0" i="0">
                <a:solidFill>
                  <a:srgbClr val="9EC4EC"/>
                </a:solidFill>
                <a:latin typeface="Calibri"/>
              </a:rPr>
              <a:t>Generating realistic 3D full-body pedestrian motion conditioned on vehicle ego trajectory — for AV simulation.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9EC4EC"/>
                </a:solidFill>
                <a:latin typeface="Calibri"/>
              </a:rPr>
              <a:t>Backbone: Motion Latent Diffusion (MLD), 263-D HumanML3D.  Data: AVA + nuScenes + Waymo (11,954 samples).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9EC4EC"/>
                </a:solidFill>
                <a:latin typeface="Calibri"/>
              </a:rPr>
              <a:t>Best system: EgoPed-IA — FID 2.880, a 40% improvement over pooled conditioning (unified evaluation).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9EC4EC"/>
                </a:solidFill>
                <a:latin typeface="Calibri"/>
              </a:rPr>
              <a:t>Validated on four independent axes: FID · held-out split · trajectory ADE/FDE · behavioral probe.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9EC4EC"/>
                </a:solidFill>
                <a:latin typeface="Calibri"/>
              </a:rPr>
              <a:t>WHY EGO CONDITIONING</a:t>
            </a:r>
          </a:p>
          <a:p>
            <a:r>
              <a:rPr sz="2500" b="1" i="0">
                <a:solidFill>
                  <a:srgbClr val="FFFFFF"/>
                </a:solidFill>
                <a:latin typeface="Calibri"/>
              </a:rPr>
              <a:t>Problem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 i="0">
                <a:solidFill>
                  <a:srgbClr val="1F2A37"/>
                </a:solidFill>
                <a:latin typeface="Calibri"/>
              </a:rPr>
              <a:t>•  AV simulation needs diverse, plausible pedestrian behavior to stress-test perception and planning.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F2A37"/>
                </a:solidFill>
                <a:latin typeface="Calibri"/>
              </a:rPr>
              <a:t>•  Existing 3D motion generators condition on text or action labels → context-agnostic: a crossing looks identical whether a car approaches at 50 km/h or is stopped.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F2A37"/>
                </a:solidFill>
                <a:latin typeface="Calibri"/>
              </a:rPr>
              <a:t>•  Real pedestrian behavior is coupled to the ego vehicle — speed, proximity and trajectory shape whether a person crosses, waits, accelerates or turns.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F2A37"/>
                </a:solidFill>
                <a:latin typeface="Calibri"/>
              </a:rPr>
              <a:t>•  Gap: ego-conditioned FULL-BODY synthesis is unexplored (prior work: 2D trajectories, or 3D bodies from text).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F2A37"/>
                </a:solidFill>
                <a:latin typeface="Calibri"/>
              </a:rPr>
              <a:t>•  Core question: how should the ego trajectory be injected into a latent-diffusion denoiser?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9EC4EC"/>
                </a:solidFill>
                <a:latin typeface="Calibri"/>
              </a:rPr>
              <a:t>METHOD</a:t>
            </a:r>
          </a:p>
          <a:p>
            <a:r>
              <a:rPr sz="250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943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•  MLD backbone: diffuse in a frozen HumanML3D VAE latent (263-D → 4 tokens × 256-D). Only the denoiser trains.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•  Ego encoder: transformer maps the 196-step ego trajectory → conditioning tokens; contrastively pretrained, then FROZEN.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•  Studied: pooled (1 mean-pooled token) vs full-sequence (all 196 per-timestep tokens).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•  Full-sequence: 196 ego + timestep + 4 latent tokens jointly self-attended → per-timestep temporal resolution at every denoising step.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•  CFG at inference; DDIM, 50 steps.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62222"/>
            <a:ext cx="5394960" cy="37907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9EC4EC"/>
                </a:solidFill>
                <a:latin typeface="Calibri"/>
              </a:rPr>
              <a:t>CONTRIBUTION MAP</a:t>
            </a:r>
          </a:p>
          <a:p>
            <a:r>
              <a:rPr sz="2500" b="1" i="0">
                <a:solidFill>
                  <a:srgbClr val="FFFFFF"/>
                </a:solidFill>
                <a:latin typeface="Calibri"/>
              </a:rPr>
              <a:t>What We Changed vs. Base MLD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54480"/>
            <a:ext cx="1920240" cy="1143000"/>
          </a:xfrm>
          <a:prstGeom prst="roundRect">
            <a:avLst/>
          </a:prstGeom>
          <a:solidFill>
            <a:srgbClr val="ECEFF2"/>
          </a:solidFill>
          <a:ln w="25400">
            <a:solidFill>
              <a:srgbClr val="939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A444E"/>
                </a:solidFill>
                <a:latin typeface="Calibri"/>
              </a:rPr>
              <a:t>Ego trajectory</a:t>
            </a:r>
          </a:p>
          <a:p>
            <a:pPr algn="ctr"/>
            <a:r>
              <a:rPr sz="950" b="0" i="0">
                <a:solidFill>
                  <a:srgbClr val="5B6672"/>
                </a:solidFill>
                <a:latin typeface="Calibri"/>
              </a:rPr>
              <a:t>196 × 2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31720" y="2016252"/>
            <a:ext cx="441198" cy="219456"/>
          </a:xfrm>
          <a:prstGeom prst="rightArrow">
            <a:avLst/>
          </a:prstGeom>
          <a:solidFill>
            <a:srgbClr val="AEB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72918" y="1554480"/>
            <a:ext cx="1920240" cy="1143000"/>
          </a:xfrm>
          <a:prstGeom prst="roundRect">
            <a:avLst/>
          </a:prstGeom>
          <a:solidFill>
            <a:srgbClr val="E4F0FC"/>
          </a:solidFill>
          <a:ln w="25400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112B4A"/>
                </a:solidFill>
                <a:latin typeface="Calibri"/>
              </a:rPr>
              <a:t>Ego Encoder</a:t>
            </a:r>
          </a:p>
          <a:p>
            <a:pPr algn="ctr"/>
            <a:r>
              <a:rPr sz="950" b="0" i="0">
                <a:solidFill>
                  <a:srgbClr val="1E5EA8"/>
                </a:solidFill>
                <a:latin typeface="Calibri"/>
              </a:rPr>
              <a:t>pretrained · FROZEN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693158" y="2016252"/>
            <a:ext cx="441198" cy="219456"/>
          </a:xfrm>
          <a:prstGeom prst="rightArrow">
            <a:avLst/>
          </a:prstGeom>
          <a:solidFill>
            <a:srgbClr val="AEB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34356" y="1554480"/>
            <a:ext cx="1920240" cy="1143000"/>
          </a:xfrm>
          <a:prstGeom prst="roundRect">
            <a:avLst/>
          </a:prstGeom>
          <a:solidFill>
            <a:srgbClr val="E4F0FC"/>
          </a:solidFill>
          <a:ln w="25400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112B4A"/>
                </a:solidFill>
                <a:latin typeface="Calibri"/>
              </a:rPr>
              <a:t>196 ego tokens</a:t>
            </a:r>
          </a:p>
          <a:p>
            <a:pPr algn="ctr"/>
            <a:r>
              <a:rPr sz="950" b="0" i="0">
                <a:solidFill>
                  <a:srgbClr val="1E5EA8"/>
                </a:solidFill>
                <a:latin typeface="Calibri"/>
              </a:rPr>
              <a:t>vs 1 pooled token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54596" y="2016252"/>
            <a:ext cx="441198" cy="219456"/>
          </a:xfrm>
          <a:prstGeom prst="rightArrow">
            <a:avLst/>
          </a:prstGeom>
          <a:solidFill>
            <a:srgbClr val="AEB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5794" y="1554480"/>
            <a:ext cx="1920240" cy="1143000"/>
          </a:xfrm>
          <a:prstGeom prst="roundRect">
            <a:avLst/>
          </a:prstGeom>
          <a:solidFill>
            <a:srgbClr val="E4F0FC"/>
          </a:solidFill>
          <a:ln w="25400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112B4A"/>
                </a:solidFill>
                <a:latin typeface="Calibri"/>
              </a:rPr>
              <a:t>Denoiser</a:t>
            </a:r>
          </a:p>
          <a:p>
            <a:pPr algn="ctr"/>
            <a:r>
              <a:rPr sz="950" b="0" i="0">
                <a:solidFill>
                  <a:srgbClr val="1E5EA8"/>
                </a:solidFill>
                <a:latin typeface="Calibri"/>
              </a:rPr>
              <a:t>self-attn · ONLY TRAINED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416034" y="2016252"/>
            <a:ext cx="441198" cy="219456"/>
          </a:xfrm>
          <a:prstGeom prst="rightArrow">
            <a:avLst/>
          </a:prstGeom>
          <a:solidFill>
            <a:srgbClr val="AEB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57232" y="1554480"/>
            <a:ext cx="1920240" cy="1143000"/>
          </a:xfrm>
          <a:prstGeom prst="roundRect">
            <a:avLst/>
          </a:prstGeom>
          <a:solidFill>
            <a:srgbClr val="ECEFF2"/>
          </a:solidFill>
          <a:ln w="25400">
            <a:solidFill>
              <a:srgbClr val="939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3A444E"/>
                </a:solidFill>
                <a:latin typeface="Calibri"/>
              </a:rPr>
              <a:t>Frozen VAE decoder</a:t>
            </a:r>
          </a:p>
          <a:p>
            <a:pPr algn="ctr"/>
            <a:r>
              <a:rPr sz="950" b="0" i="0">
                <a:solidFill>
                  <a:srgbClr val="5B6672"/>
                </a:solidFill>
                <a:latin typeface="Calibri"/>
              </a:rPr>
              <a:t>→ 263-D motion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00400"/>
            <a:ext cx="110642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•  Replaced text/CLIP conditioning with vehicle ego-trajectory conditioning (VAE, denoiser backbone and evaluators retained).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•  New frozen ego encoder, contrastively pretrained against VAE motion latents.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•  Changed conditioning granularity: all 196 per-timestep tokens vs one pooled token — the source of the gain.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•  New interaction-aware data pipeline (scoring, weighted sampling, closest-approach cropping) — ablated, not assumed.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9EC4EC"/>
                </a:solidFill>
                <a:latin typeface="Calibri"/>
              </a:rPr>
              <a:t>A NEW EGO–PEDESTRIAN BENCHMARK</a:t>
            </a:r>
          </a:p>
          <a:p>
            <a:r>
              <a:rPr sz="250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•  nuScenes + Waymo supply scale and diversity; AVA (our sensor vehicle) adds a small, deliberately STAGED high-interaction subset.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•  Pipeline: MS3D annotation → per-camera 3D SMPL (adapted OmniRe) → stitch → 263-D HumanML3D → paired with ego odometry, pedestrian-centric frame.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•  Interaction score = travel × (%frames within 5 m) × relative-bearing change → weighted sampling + closest-approach crop.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291840"/>
          <a:ext cx="585215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4417"/>
                <a:gridCol w="1102580"/>
                <a:gridCol w="1102580"/>
                <a:gridCol w="11025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T="25400" marB="25400" marL="7620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 marT="25400" marB="25400" marL="7620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Val</a:t>
                      </a:r>
                    </a:p>
                  </a:txBody>
                  <a:tcPr marT="25400" marB="25400" marL="7620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T="25400" marB="25400" marL="76200">
                    <a:solidFill>
                      <a:srgbClr val="112B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AVA (ours)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nuScenes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3,637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943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4,580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Waymo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5,876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1,464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7,340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12B4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T="12700" marB="12700" marL="76200">
                    <a:solidFill>
                      <a:srgbClr val="DDE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12B4A"/>
                          </a:solidFill>
                          <a:latin typeface="Calibri"/>
                        </a:rPr>
                        <a:t>9,540</a:t>
                      </a:r>
                    </a:p>
                  </a:txBody>
                  <a:tcPr marT="12700" marB="12700" marL="76200">
                    <a:solidFill>
                      <a:srgbClr val="DDE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12B4A"/>
                          </a:solidFill>
                          <a:latin typeface="Calibri"/>
                        </a:rPr>
                        <a:t>2,414</a:t>
                      </a:r>
                    </a:p>
                  </a:txBody>
                  <a:tcPr marT="12700" marB="12700" marL="76200">
                    <a:solidFill>
                      <a:srgbClr val="DDE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12B4A"/>
                          </a:solidFill>
                          <a:latin typeface="Calibri"/>
                        </a:rPr>
                        <a:t>11,954</a:t>
                      </a:r>
                    </a:p>
                  </a:txBody>
                  <a:tcPr marT="12700" marB="12700" marL="76200">
                    <a:solidFill>
                      <a:srgbClr val="DDEC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 i="1">
                <a:solidFill>
                  <a:srgbClr val="5B6672"/>
                </a:solidFill>
                <a:latin typeface="Calibri"/>
              </a:rPr>
              <a:t>Splits are scene-disjoint. A scene-disjoint half of validation is further held out and never used for model or checkpoint selection.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9EC4EC"/>
                </a:solidFill>
                <a:latin typeface="Calibri"/>
              </a:rPr>
              <a:t>UNIFIED EVALUATION · 3 REPLICATIONS</a:t>
            </a:r>
          </a:p>
          <a:p>
            <a:r>
              <a:rPr sz="2500" b="1" i="0">
                <a:solidFill>
                  <a:srgbClr val="FFFFFF"/>
                </a:solidFill>
                <a:latin typeface="Calibri"/>
              </a:rPr>
              <a:t>Main Results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/>
                <a:gridCol w="2133600"/>
                <a:gridCol w="1386840"/>
                <a:gridCol w="1386840"/>
                <a:gridCol w="17068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T="25400" marB="25400" marL="7620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FID ↓</a:t>
                      </a:r>
                    </a:p>
                  </a:txBody>
                  <a:tcPr marT="25400" marB="25400" marL="7620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R@1</a:t>
                      </a:r>
                    </a:p>
                  </a:txBody>
                  <a:tcPr marT="25400" marB="25400" marL="7620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MM</a:t>
                      </a:r>
                    </a:p>
                  </a:txBody>
                  <a:tcPr marT="25400" marB="25400" marL="7620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Diversity</a:t>
                      </a:r>
                    </a:p>
                  </a:txBody>
                  <a:tcPr marT="25400" marB="25400" marL="76200">
                    <a:solidFill>
                      <a:srgbClr val="112B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B7F3B"/>
                          </a:solidFill>
                          <a:latin typeface="Calibri"/>
                        </a:rPr>
                        <a:t>EgoPed-IA (ours, + interaction sampling)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B7F3B"/>
                          </a:solidFill>
                          <a:latin typeface="Calibri"/>
                        </a:rPr>
                        <a:t>2.880 ±0.084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B7F3B"/>
                          </a:solidFill>
                          <a:latin typeface="Calibri"/>
                        </a:rPr>
                        <a:t>0.323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B7F3B"/>
                          </a:solidFill>
                          <a:latin typeface="Calibri"/>
                        </a:rPr>
                        <a:t>3.37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B7F3B"/>
                          </a:solidFill>
                          <a:latin typeface="Calibri"/>
                        </a:rPr>
                        <a:t>5.67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EgoPed / H4 (ours, full-sequence)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3.392 ±0.179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0.548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3.96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5.79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H6 (unfrozen encoder)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5.079 ±0.034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0.352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2.62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6.06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H2 (pooled baseline)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5.620 ±0.117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0.665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3.71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5.82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H3 (latent-8 VAE)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6.677 ±0.135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0.663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3.37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5.89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Ground truth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5.50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06240"/>
            <a:ext cx="110642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40% FID improvement over pooled conditioning under a UNIFIED evaluation pipeline (identical eval-time processing for all systems).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Verified conservative: the baseline additionally got interaction-aware training AND its best-of-3 seeds.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Interaction-aware sampling improves the full-sequence model further, at 1/3 the training epochs.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9EC4EC"/>
                </a:solidFill>
                <a:latin typeface="Calibri"/>
              </a:rPr>
              <a:t>INTERACTION-SAMPLING 2×2</a:t>
            </a:r>
          </a:p>
          <a:p>
            <a:r>
              <a:rPr sz="2500" b="1" i="0">
                <a:solidFill>
                  <a:srgbClr val="FFFFFF"/>
                </a:solidFill>
                <a:latin typeface="Calibri"/>
              </a:rPr>
              <a:t>Disentangling Architecture from Data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37360" y="1645920"/>
          <a:ext cx="8686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/>
                <a:gridCol w="2895600"/>
                <a:gridCol w="28956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FID ↓</a:t>
                      </a:r>
                    </a:p>
                  </a:txBody>
                  <a:tcPr marT="25400" marB="25400" marL="7620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− interaction sampling</a:t>
                      </a:r>
                    </a:p>
                  </a:txBody>
                  <a:tcPr marT="25400" marB="25400" marL="7620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+ interaction sampling</a:t>
                      </a:r>
                    </a:p>
                  </a:txBody>
                  <a:tcPr marT="25400" marB="25400" marL="76200">
                    <a:solidFill>
                      <a:srgbClr val="112B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F2A37"/>
                          </a:solidFill>
                          <a:latin typeface="Calibri"/>
                        </a:rPr>
                        <a:t>H2 (pooled)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F2A37"/>
                          </a:solidFill>
                          <a:latin typeface="Calibri"/>
                        </a:rPr>
                        <a:t>6.214 ±0.105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F2A37"/>
                          </a:solidFill>
                          <a:latin typeface="Calibri"/>
                        </a:rPr>
                        <a:t>5.620 ±0.117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B7F3B"/>
                          </a:solidFill>
                          <a:latin typeface="Calibri"/>
                        </a:rPr>
                        <a:t>H4 (full-sequence)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1B7F3B"/>
                          </a:solidFill>
                          <a:latin typeface="Calibri"/>
                        </a:rPr>
                        <a:t>3.392 ±0.179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1B7F3B"/>
                          </a:solidFill>
                          <a:latin typeface="Calibri"/>
                        </a:rPr>
                        <a:t>2.880 ±0.084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383280"/>
            <a:ext cx="110642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Conditioning granularity dominates: ≈2.7–2.8 FID in BOTH columns — about 5× the pipeline effect.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The two interventions are approximately ADDITIVE (−0.59 pooled, −0.51 full-sequence): data curation helps, but it is not what drives the result.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Why it matters: the original comparison mixed both factors. Separating them shows the headline was conservative, not inflated.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9EC4EC"/>
                </a:solidFill>
                <a:latin typeface="Calibri"/>
              </a:rPr>
              <a:t>WHAT ACTUALLY MATTERS</a:t>
            </a:r>
          </a:p>
          <a:p>
            <a:r>
              <a:rPr sz="2500" b="1" i="0">
                <a:solidFill>
                  <a:srgbClr val="FFFFFF"/>
                </a:solidFill>
                <a:latin typeface="Calibri"/>
              </a:rPr>
              <a:t>Ablations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3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8250"/>
                <a:gridCol w="3404381"/>
                <a:gridCol w="3191607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T="25400" marB="25400" marL="7620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Finding</a:t>
                      </a:r>
                    </a:p>
                  </a:txBody>
                  <a:tcPr marT="25400" marB="25400" marL="7620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T="25400" marB="25400" marL="76200">
                    <a:solidFill>
                      <a:srgbClr val="112B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Bigger VAE latent (8 vs 4)?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6.677 vs 5.620 FID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19% WORSE — reject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Unfreeze the ego encoder?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MM collapses 3.96 → 2.62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Freezing is critical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Skip encoder pretraining?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FID 4.968, R@1 = chance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≈ unconditional prior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Cross-attention instead of self-attn?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3.490 vs 3.338 (p = 0.33)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No difference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Different training seed?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3.39 / 4.72 / 4.80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Real variance — reported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114800"/>
            <a:ext cx="110642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•  The encoder design is bracketed from BOTH sides: pretraining injects the ego information, freezing preserves generative diversity.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•  The attention mechanism is NOT the source of the gain — full-sequence conditioning is (self-attention and cross-attention tie).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•  Seed spread is reported honestly: single-seed point estimates overstate precision in this setting.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9EC4EC"/>
                </a:solidFill>
                <a:latin typeface="Calibri"/>
              </a:rPr>
              <a:t>TRAINING DYNAMICS</a:t>
            </a:r>
          </a:p>
          <a:p>
            <a:r>
              <a:rPr sz="2500" b="1" i="0">
                <a:solidFill>
                  <a:srgbClr val="FFFFFF"/>
                </a:solidFill>
                <a:latin typeface="Calibri"/>
              </a:rPr>
              <a:t>Checkpoint Selection &amp; the Unfreeze Failure</a:t>
            </a:r>
          </a:p>
        </p:txBody>
      </p:sp>
      <p:pic>
        <p:nvPicPr>
          <p:cNvPr id="5" name="Picture 4" descr="h4_training_curv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56426"/>
            <a:ext cx="5486400" cy="2853708"/>
          </a:xfrm>
          <a:prstGeom prst="rect">
            <a:avLst/>
          </a:prstGeom>
        </p:spPr>
      </p:pic>
      <p:pic>
        <p:nvPicPr>
          <p:cNvPr id="6" name="Picture 5" descr="h6_training_curv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86989"/>
            <a:ext cx="5486400" cy="29925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532120"/>
            <a:ext cx="110642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 Left: FID does not improve monotonically — the final checkpoint is NOT the best checkpoint. Early stopping on validation FID is essential.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 Right: unfreezing the encoder never approaches the frozen model at any point in 5,000 epochs.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9EC4EC"/>
                </a:solidFill>
                <a:latin typeface="Calibri"/>
              </a:rPr>
              <a:t>DOES THE R@1 GAP MEAN WORSE CONDITIONING? NO.</a:t>
            </a:r>
          </a:p>
          <a:p>
            <a:r>
              <a:rPr sz="2500" b="1" i="0">
                <a:solidFill>
                  <a:srgbClr val="FFFFFF"/>
                </a:solidFill>
                <a:latin typeface="Calibri"/>
              </a:rPr>
              <a:t>Evaluator-Independent Validation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1813560"/>
                <a:gridCol w="1813560"/>
                <a:gridCol w="1813560"/>
                <a:gridCol w="18135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T="25400" marB="25400" marL="7620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ADE ↓</a:t>
                      </a:r>
                    </a:p>
                  </a:txBody>
                  <a:tcPr marT="25400" marB="25400" marL="7620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FDE ↓</a:t>
                      </a:r>
                    </a:p>
                  </a:txBody>
                  <a:tcPr marT="25400" marB="25400" marL="7620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minADE₅ ↓</a:t>
                      </a:r>
                    </a:p>
                  </a:txBody>
                  <a:tcPr marT="25400" marB="25400" marL="7620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minFDE₅ ↓</a:t>
                      </a:r>
                    </a:p>
                  </a:txBody>
                  <a:tcPr marT="25400" marB="25400" marL="76200">
                    <a:solidFill>
                      <a:srgbClr val="112B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B7F3B"/>
                          </a:solidFill>
                          <a:latin typeface="Calibri"/>
                        </a:rPr>
                        <a:t>EgoPed / H4 (full-sequence)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B7F3B"/>
                          </a:solidFill>
                          <a:latin typeface="Calibri"/>
                        </a:rPr>
                        <a:t>2.320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B7F3B"/>
                          </a:solidFill>
                          <a:latin typeface="Calibri"/>
                        </a:rPr>
                        <a:t>4.826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B7F3B"/>
                          </a:solidFill>
                          <a:latin typeface="Calibri"/>
                        </a:rPr>
                        <a:t>1.291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B7F3B"/>
                          </a:solidFill>
                          <a:latin typeface="Calibri"/>
                        </a:rPr>
                        <a:t>2.591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H2 (pooled)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2.434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4.990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1.482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2.979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Unconditional (ego zeroed)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2.880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5.876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1.228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2.454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291840"/>
            <a:ext cx="110642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Root-trajectory displacement error uses NO learned evaluator and no model-specific embedding — directly comparable across architectures.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H4 beats the pooled baseline on ALL FOUR metrics (paired over 1,190 held-out conditions; 3 of 4 significant) DESPITE its lower R-Precision.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→ the R@1 gap is an embedding-space artifact, not worse conditioning. Conditioning also demonstrably helps: 2.88 → 2.32 vs the unconditional prior.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9EC4EC"/>
                </a:solidFill>
                <a:latin typeface="Calibri"/>
              </a:rPr>
              <a:t>DOES THE MODEL COUPLE BEHAVIOR TO THE EGO?</a:t>
            </a:r>
          </a:p>
          <a:p>
            <a:r>
              <a:rPr sz="2500" b="1" i="0">
                <a:solidFill>
                  <a:srgbClr val="FFFFFF"/>
                </a:solidFill>
                <a:latin typeface="Calibri"/>
              </a:rPr>
              <a:t>Behavioral Validity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63040" y="1463040"/>
          <a:ext cx="923543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0049"/>
                <a:gridCol w="2031796"/>
                <a:gridCol w="2031796"/>
                <a:gridCol w="2031796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T="25400" marB="25400" marL="7620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Separation ↑</a:t>
                      </a:r>
                    </a:p>
                  </a:txBody>
                  <a:tcPr marT="25400" marB="25400" marL="7620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Entropy</a:t>
                      </a:r>
                    </a:p>
                  </a:txBody>
                  <a:tcPr marT="25400" marB="25400" marL="7620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Brier ↓</a:t>
                      </a:r>
                    </a:p>
                  </a:txBody>
                  <a:tcPr marT="25400" marB="25400" marL="76200">
                    <a:solidFill>
                      <a:srgbClr val="112B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B7F3B"/>
                          </a:solidFill>
                          <a:latin typeface="Calibri"/>
                        </a:rPr>
                        <a:t>EgoPed / H4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B7F3B"/>
                          </a:solidFill>
                          <a:latin typeface="Calibri"/>
                        </a:rPr>
                        <a:t>0.333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B7F3B"/>
                          </a:solidFill>
                          <a:latin typeface="Calibri"/>
                        </a:rPr>
                        <a:t>0.238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B7F3B"/>
                          </a:solidFill>
                          <a:latin typeface="Calibri"/>
                        </a:rPr>
                        <a:t>0.149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H2 (pooled)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0.285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0.297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0.178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H6 (unfrozen)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0.364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0.178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0.178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Unconditional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0.021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0.533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0.199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200400"/>
            <a:ext cx="110642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•  Probe: automatic stop/walk labels from root trajectories; compare each model's sampled p(stop | ego) against ground truth (K = 5 samples per condition).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•  Sanity ✓ — the unconditional model is behaviorally ego-blind (separation ≈ 0), validating the probe.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•  H4 couples behavioral decisions to the ego better than pooled, with the best calibration — a THIRD independent axis favouring full-sequence conditioning.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•  H6 reveals its MultiModality collapse in behavior space: highest separation at the LOWEST entropy — it commits to one behavior per condition, overconfidently.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9EC4EC"/>
                </a:solidFill>
                <a:latin typeface="Calibri"/>
              </a:rPr>
              <a:t>WHAT ELSE COULD YOU DO INSTEAD?</a:t>
            </a:r>
          </a:p>
          <a:p>
            <a:r>
              <a:rPr sz="2500" b="1" i="0">
                <a:solidFill>
                  <a:srgbClr val="FFFFFF"/>
                </a:solidFill>
                <a:latin typeface="Calibri"/>
              </a:rPr>
              <a:t>External Baselines: the Capability Ladder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7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0878"/>
                <a:gridCol w="1816723"/>
                <a:gridCol w="4440878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T="25400" marB="25400" marL="7620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FID ↓</a:t>
                      </a:r>
                    </a:p>
                  </a:txBody>
                  <a:tcPr marT="25400" marB="25400" marL="7620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T="25400" marB="25400" marL="76200">
                    <a:solidFill>
                      <a:srgbClr val="112B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50" b="1" i="0">
                          <a:solidFill>
                            <a:srgbClr val="1B7F3B"/>
                          </a:solidFill>
                          <a:latin typeface="Calibri"/>
                        </a:rPr>
                        <a:t>EgoPed-IA (ours)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1B7F3B"/>
                          </a:solidFill>
                          <a:latin typeface="Calibri"/>
                        </a:rPr>
                        <a:t>2.880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1B7F3B"/>
                          </a:solidFill>
                          <a:latin typeface="Calibri"/>
                        </a:rPr>
                        <a:t>in-domain, ego-conditioned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Unconditional prior (ego zeroed)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5.18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conditioning is worth 34% FID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VAE latent interpolation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7.91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the learned prior matters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Pretrained text-to-motion MLD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14.07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off-the-shelf T2M does not transfer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Raw-space diffusion (MDM-style)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26.43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justifies the latent backbone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Ego→motion regressor (deterministic)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35.47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L2-optimal, yet unrealistic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Trajectory + static body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47.7–49.6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A37"/>
                          </a:solidFill>
                          <a:latin typeface="Calibri"/>
                        </a:rPr>
                        <a:t>task needs articulated motion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754880"/>
            <a:ext cx="110642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•  The regressor minimizes expected L2 by construction (ADE 1.80) but produces collapsed, unrealistic motion — while EgoPed's minADE₅ (1.29) beats it WITH realism.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•  Pretrained MLD reported as the BEST of three prompts (14.07; the ladder spanned 14.07–24.84) — deliberately generous to the baseline.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 i="1">
                <a:solidFill>
                  <a:srgbClr val="5B6672"/>
                </a:solidFill>
                <a:latin typeface="Calibri"/>
              </a:rPr>
              <a:t>Retrieval (copying training motions) reaches FID 0.06 — a memorization sanity check, not a competitor.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9EC4EC"/>
                </a:solidFill>
                <a:latin typeface="Calibri"/>
              </a:rPr>
              <a:t>IN PROGRESS · TEXT VS TRAJECTORY</a:t>
            </a:r>
          </a:p>
          <a:p>
            <a:r>
              <a:rPr sz="2500" b="1" i="0">
                <a:solidFill>
                  <a:srgbClr val="FFFFFF"/>
                </a:solidFill>
                <a:latin typeface="Calibri"/>
              </a:rPr>
              <a:t>How Much Conditioning Information Is Needed?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1554480"/>
          <a:ext cx="996695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6790"/>
                <a:gridCol w="2491740"/>
                <a:gridCol w="3258429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Conditioning signal</a:t>
                      </a:r>
                    </a:p>
                  </a:txBody>
                  <a:tcPr marT="25400" marB="25400" marL="7620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Information</a:t>
                      </a:r>
                    </a:p>
                  </a:txBody>
                  <a:tcPr marT="25400" marB="25400" marL="7620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FID ↓</a:t>
                      </a:r>
                    </a:p>
                  </a:txBody>
                  <a:tcPr marT="25400" marB="25400" marL="76200">
                    <a:solidFill>
                      <a:srgbClr val="112B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A37"/>
                          </a:solidFill>
                          <a:latin typeface="Calibri"/>
                        </a:rPr>
                        <a:t>Unconditional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F2A37"/>
                          </a:solidFill>
                          <a:latin typeface="Calibri"/>
                        </a:rPr>
                        <a:t>0 bits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F2A37"/>
                          </a:solidFill>
                          <a:latin typeface="Calibri"/>
                        </a:rPr>
                        <a:t>5.18 (prior) · training now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A37"/>
                          </a:solidFill>
                          <a:latin typeface="Calibri"/>
                        </a:rPr>
                        <a:t>Body text (no vehicle)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F2A37"/>
                          </a:solidFill>
                          <a:latin typeface="Calibri"/>
                        </a:rPr>
                        <a:t>2.99 bits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F2A37"/>
                          </a:solidFill>
                          <a:latin typeface="Calibri"/>
                        </a:rPr>
                        <a:t>— (optional rung)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A37"/>
                          </a:solidFill>
                          <a:latin typeface="Calibri"/>
                        </a:rPr>
                        <a:t>Ego text (vehicle verbalized)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F2A37"/>
                          </a:solidFill>
                          <a:latin typeface="Calibri"/>
                        </a:rPr>
                        <a:t>6.09 bits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F2A37"/>
                          </a:solidFill>
                          <a:latin typeface="Calibri"/>
                        </a:rPr>
                        <a:t>training now</a:t>
                      </a:r>
                    </a:p>
                  </a:txBody>
                  <a:tcPr marT="12700" marB="12700" marL="76200">
                    <a:solidFill>
                      <a:srgbClr val="EF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B7F3B"/>
                          </a:solidFill>
                          <a:latin typeface="Calibri"/>
                        </a:rPr>
                        <a:t>Ego trajectory (ours)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B7F3B"/>
                          </a:solidFill>
                          <a:latin typeface="Calibri"/>
                        </a:rPr>
                        <a:t>continuous 196 × 2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B7F3B"/>
                          </a:solidFill>
                          <a:latin typeface="Calibri"/>
                        </a:rPr>
                        <a:t>2.880</a:t>
                      </a:r>
                    </a:p>
                  </a:txBody>
                  <a:tcPr marT="12700" marB="12700" marL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657600"/>
            <a:ext cx="110642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We synthesize captions deterministically from kinematics (no human annotation, no LLM): 14,172 captions, measured at 2.99 bits (body) and 6.09 bits (ego vocabulary).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This turns the central claim into a QUANTITATIVE one: if the trajectory beats a ~6-bit linguistic description of the same interaction, fine-grained temporal conditioning carries information language cannot.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Both runs are queued on the cluster; the comparison removes the domain gap that confounds the off-the-shelf text baseline.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9EC4EC"/>
                </a:solidFill>
                <a:latin typeface="Calibri"/>
              </a:rPr>
              <a:t>EGOPED · CFG = 10</a:t>
            </a:r>
          </a:p>
          <a:p>
            <a:r>
              <a:rPr sz="2500" b="1" i="0">
                <a:solidFill>
                  <a:srgbClr val="FFFFFF"/>
                </a:solidFill>
                <a:latin typeface="Calibri"/>
              </a:rPr>
              <a:t>Qualitative Results</a:t>
            </a:r>
          </a:p>
        </p:txBody>
      </p:sp>
      <p:pic>
        <p:nvPicPr>
          <p:cNvPr id="5" name="Picture 4" descr="qualitatives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2399"/>
            <a:ext cx="11064240" cy="43989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 i="1">
                <a:solidFill>
                  <a:srgbClr val="5B6672"/>
                </a:solidFill>
                <a:latin typeface="Calibri"/>
              </a:rPr>
              <a:t>Generated 3D body motion with bird's-eye trajectories: predicted (blue), ground truth (orange), ego vehicle (red).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9EC4EC"/>
                </a:solidFill>
                <a:latin typeface="Calibri"/>
              </a:rPr>
              <a:t>WHAT TO TAKE AWAY</a:t>
            </a:r>
          </a:p>
          <a:p>
            <a:r>
              <a:rPr sz="2500" b="1" i="0">
                <a:solidFill>
                  <a:srgbClr val="FFFFFF"/>
                </a:solidFill>
                <a:latin typeface="Calibri"/>
              </a:rPr>
              <a:t>Design Recipe &amp;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First system generating full 3D HumanML3D body motion conditioned on vehicle ego odometry (AVA + nuScenes + Waymo).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Full-sequence temporal conditioning beats pooled conditioning by 40% FID — robust to CFG, to the attention mechanism, and amplified by interaction-aware sampling.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The frozen, contrastively pretrained ego encoder is essential: pretraining injects the ego information, freezing preserves generative diversity.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Recipe:</a:t>
            </a:r>
          </a:p>
          <a:p>
            <a:pPr lvl="1">
              <a:spcAft>
                <a:spcPts val="700"/>
              </a:spcAft>
            </a:pPr>
            <a:r>
              <a:rPr sz="1400" b="0" i="0">
                <a:solidFill>
                  <a:srgbClr val="5B6672"/>
                </a:solidFill>
                <a:latin typeface="Calibri"/>
              </a:rPr>
              <a:t>–  Pretrain the ego encoder against frozen VAE latents → freeze it → condition the denoiser on the FULL ego sequence.</a:t>
            </a:r>
          </a:p>
          <a:p>
            <a:pPr lvl="1">
              <a:spcAft>
                <a:spcPts val="700"/>
              </a:spcAft>
            </a:pPr>
            <a:r>
              <a:rPr sz="1400" b="0" i="0">
                <a:solidFill>
                  <a:srgbClr val="5B6672"/>
                </a:solidFill>
                <a:latin typeface="Calibri"/>
              </a:rPr>
              <a:t>–  Use CFG ≈ 10; select checkpoints on validation FID, never the final epoch.</a:t>
            </a:r>
          </a:p>
          <a:p>
            <a:pPr lvl="1">
              <a:spcAft>
                <a:spcPts val="700"/>
              </a:spcAft>
            </a:pPr>
            <a:r>
              <a:rPr sz="1400" b="0" i="0">
                <a:solidFill>
                  <a:srgbClr val="5B6672"/>
                </a:solidFill>
                <a:latin typeface="Calibri"/>
              </a:rPr>
              <a:t>–  Add interaction-aware sampling for a further gain at a third of the training cost.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9EC4EC"/>
                </a:solidFill>
                <a:latin typeface="Calibri"/>
              </a:rPr>
              <a:t>STATUS</a:t>
            </a:r>
          </a:p>
          <a:p>
            <a:r>
              <a:rPr sz="2500" b="1" i="0">
                <a:solidFill>
                  <a:srgbClr val="FFFFFF"/>
                </a:solidFill>
                <a:latin typeface="Calibri"/>
              </a:rPr>
              <a:t>Limitations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Pose labels are estimated (OmniRe), not ground-truth 3D — label-quality audit outstanding.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Conditioning uses 2D ego trajectory only; relative geometry, velocity profile and map context are unexplored.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Seed sensitivity is real (FID 3.39 / 4.72 / 4.80); EgoPed-IA is reported from a single seed.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No physics constraints (foot sliding), single benchmark, and no human perceptual study yet.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In flight: unconditional and ego-text training runs to complete the information ladder.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EF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007608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112B4A"/>
                </a:solidFill>
                <a:latin typeface="Calibri"/>
              </a:rPr>
              <a:t>EgoPed — full-sequence ego conditioning + frozen pretrained encoder: FID 2.880, validated on four independent axes.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