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B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46120"/>
            <a:ext cx="12191695" cy="3810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18288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5400" b="1" i="0">
                <a:solidFill>
                  <a:srgbClr val="FFFFFF"/>
                </a:solidFill>
                <a:latin typeface="Calibri"/>
              </a:rPr>
              <a:t>EgoPed</a:t>
            </a:r>
          </a:p>
          <a:p>
            <a:r>
              <a:rPr sz="2600" b="0" i="0">
                <a:solidFill>
                  <a:srgbClr val="CFE1F5"/>
                </a:solidFill>
                <a:latin typeface="Calibri"/>
              </a:rPr>
              <a:t>Ego-Conditioned Pedestrian Body Motion Generation via Latent Diffusion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474720"/>
            <a:ext cx="1051560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spcAft>
                <a:spcPts val="600"/>
              </a:spcAft>
            </a:pPr>
            <a:r>
              <a:rPr sz="1600" b="0" i="0">
                <a:solidFill>
                  <a:srgbClr val="9EC4EC"/>
                </a:solidFill>
                <a:latin typeface="Calibri"/>
              </a:rPr>
              <a:t>Generating realistic 3D full-body pedestrian motion conditioned on vehicle ego trajectory — for autonomous-driving simulation.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9EC4EC"/>
                </a:solidFill>
                <a:latin typeface="Calibri"/>
              </a:rPr>
              <a:t>Backbone: Motion Latent Diffusion (MLD) on the 263-D HumanML3D representation.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9EC4EC"/>
                </a:solidFill>
                <a:latin typeface="Calibri"/>
              </a:rPr>
              <a:t>Data: AVA (our sensor vehicle) + nuScenes + Waymo.   |   Research progress update.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1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 i="0">
                <a:solidFill>
                  <a:srgbClr val="9EC4EC"/>
                </a:solidFill>
                <a:latin typeface="Calibri"/>
              </a:rPr>
              <a:t>WHY EGO-CONDITIONED PEDESTRIAN MOTION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Problem &amp; 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</a:pPr>
            <a:r>
              <a:rPr sz="1700" b="0" i="0">
                <a:solidFill>
                  <a:srgbClr val="1F2A37"/>
                </a:solidFill>
                <a:latin typeface="Calibri"/>
              </a:rPr>
              <a:t>•  AV simulation needs diverse, plausible pedestrian behaviors to stress-test perception &amp; planning before deployment.</a:t>
            </a:r>
          </a:p>
          <a:p>
            <a:pPr>
              <a:spcAft>
                <a:spcPts val="700"/>
              </a:spcAft>
            </a:pPr>
            <a:r>
              <a:rPr sz="1700" b="0" i="0">
                <a:solidFill>
                  <a:srgbClr val="1F2A37"/>
                </a:solidFill>
                <a:latin typeface="Calibri"/>
              </a:rPr>
              <a:t>•  Existing 3D motion generators are text/action conditioned → context-agnostic: a crossing looks identical whether a car approaches at 50 km/h or is stopped.</a:t>
            </a:r>
          </a:p>
          <a:p>
            <a:pPr>
              <a:spcAft>
                <a:spcPts val="700"/>
              </a:spcAft>
            </a:pPr>
            <a:r>
              <a:rPr sz="1700" b="0" i="0">
                <a:solidFill>
                  <a:srgbClr val="1F2A37"/>
                </a:solidFill>
                <a:latin typeface="Calibri"/>
              </a:rPr>
              <a:t>•  In reality, pedestrian behavior is coupled to the ego vehicle — its speed, proximity, and trajectory shape whether a person crosses, waits, accelerates, or turns.</a:t>
            </a:r>
          </a:p>
          <a:p>
            <a:pPr>
              <a:spcAft>
                <a:spcPts val="700"/>
              </a:spcAft>
            </a:pPr>
            <a:r>
              <a:rPr sz="1700" b="0" i="0">
                <a:solidFill>
                  <a:srgbClr val="1F2A37"/>
                </a:solidFill>
                <a:latin typeface="Calibri"/>
              </a:rPr>
              <a:t>•  Gap: ego-conditioned FULL-BODY synthesis is unexplored — prior work generates 2D trajectories, or 3D bodies from text, but not 3D bodies from ego context.</a:t>
            </a:r>
          </a:p>
          <a:p>
            <a:pPr>
              <a:spcAft>
                <a:spcPts val="700"/>
              </a:spcAft>
            </a:pPr>
            <a:r>
              <a:rPr sz="1700" b="0" i="0">
                <a:solidFill>
                  <a:srgbClr val="1F2A37"/>
                </a:solidFill>
                <a:latin typeface="Calibri"/>
              </a:rPr>
              <a:t>•  Core question:  how should the ego trajectory be injected into a latent-diffusion denoiser?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1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 i="0">
                <a:solidFill>
                  <a:srgbClr val="9EC4EC"/>
                </a:solidFill>
                <a:latin typeface="Calibri"/>
              </a:rPr>
              <a:t>METHOD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Approach: Ego-Conditioned Latent Diffusion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603504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•  MLD backbone: diffuse in a frozen HumanML3D VAE latent (263-D → L=4 tokens × 256-D). Only the denoiser is trained.</a:t>
            </a:r>
          </a:p>
          <a:p>
            <a:pPr>
              <a:spcAft>
                <a:spcPts val="7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•  Ego encoder: transformer maps the 196-step ego trajectory → conditioning tokens; pretrained to align with VAE latents, then FROZEN.</a:t>
            </a:r>
          </a:p>
          <a:p>
            <a:pPr>
              <a:spcAft>
                <a:spcPts val="7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•  Studied: pooled (1 mean-pooled token) vs full-sequence (all 196 per-timestep tokens).</a:t>
            </a:r>
          </a:p>
          <a:p>
            <a:pPr>
              <a:spcAft>
                <a:spcPts val="7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•  Full-sequence: 196 ego + timestep + 4 latent tokens jointly self-attended → per-timestep temporal resolution at every denoising step.</a:t>
            </a:r>
          </a:p>
        </p:txBody>
      </p:sp>
      <p:pic>
        <p:nvPicPr>
          <p:cNvPr id="6" name="Picture 5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853662"/>
            <a:ext cx="5394960" cy="37907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26364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0" i="1">
                <a:solidFill>
                  <a:srgbClr val="5B6672"/>
                </a:solidFill>
                <a:latin typeface="Calibri"/>
              </a:rPr>
              <a:t>Architecture: frozen VAE + frozen ego encoder; only the denoiser is trained.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1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 i="0">
                <a:solidFill>
                  <a:srgbClr val="9EC4EC"/>
                </a:solidFill>
                <a:latin typeface="Calibri"/>
              </a:rPr>
              <a:t>EGOPED VS. THE BASE MLD TEXT-TO-MOTION MODEL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Architectural Overview — What We Changed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600200"/>
            <a:ext cx="1920240" cy="1207008"/>
          </a:xfrm>
          <a:prstGeom prst="roundRect">
            <a:avLst/>
          </a:prstGeom>
          <a:solidFill>
            <a:srgbClr val="ECEFF2"/>
          </a:solidFill>
          <a:ln w="28575">
            <a:solidFill>
              <a:srgbClr val="939E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 lIns="50800" rIns="50800"/>
          <a:lstStyle/>
          <a:p>
            <a:pPr algn="ctr"/>
            <a:r>
              <a:rPr sz="1250" b="1" i="0">
                <a:solidFill>
                  <a:srgbClr val="3A444E"/>
                </a:solidFill>
                <a:latin typeface="Calibri"/>
              </a:rPr>
              <a:t>Ego trajectory</a:t>
            </a:r>
          </a:p>
          <a:p>
            <a:pPr algn="ctr"/>
            <a:r>
              <a:rPr sz="950" b="0" i="0">
                <a:solidFill>
                  <a:srgbClr val="5B6672"/>
                </a:solidFill>
                <a:latin typeface="Calibri"/>
              </a:rPr>
              <a:t>input  ·  196 × 2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331720" y="2084832"/>
            <a:ext cx="441198" cy="237744"/>
          </a:xfrm>
          <a:prstGeom prst="rightArrow">
            <a:avLst/>
          </a:prstGeom>
          <a:solidFill>
            <a:srgbClr val="AEBC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772918" y="1600200"/>
            <a:ext cx="1920240" cy="1207008"/>
          </a:xfrm>
          <a:prstGeom prst="roundRect">
            <a:avLst/>
          </a:prstGeom>
          <a:solidFill>
            <a:srgbClr val="E4F0FC"/>
          </a:solidFill>
          <a:ln w="28575">
            <a:solidFill>
              <a:srgbClr val="2E8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 lIns="50800" rIns="50800"/>
          <a:lstStyle/>
          <a:p>
            <a:pPr algn="ctr"/>
            <a:r>
              <a:rPr sz="1250" b="1" i="0">
                <a:solidFill>
                  <a:srgbClr val="112B4A"/>
                </a:solidFill>
                <a:latin typeface="Calibri"/>
              </a:rPr>
              <a:t>Ego Encoder</a:t>
            </a:r>
          </a:p>
          <a:p>
            <a:pPr algn="ctr"/>
            <a:r>
              <a:rPr sz="950" b="0" i="0">
                <a:solidFill>
                  <a:srgbClr val="1E5EA8"/>
                </a:solidFill>
                <a:latin typeface="Calibri"/>
              </a:rPr>
              <a:t>transformer · pretrained · FROZEN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693158" y="2084832"/>
            <a:ext cx="441198" cy="237744"/>
          </a:xfrm>
          <a:prstGeom prst="rightArrow">
            <a:avLst/>
          </a:prstGeom>
          <a:solidFill>
            <a:srgbClr val="AEBC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134356" y="1600200"/>
            <a:ext cx="1920240" cy="1207008"/>
          </a:xfrm>
          <a:prstGeom prst="roundRect">
            <a:avLst/>
          </a:prstGeom>
          <a:solidFill>
            <a:srgbClr val="E4F0FC"/>
          </a:solidFill>
          <a:ln w="28575">
            <a:solidFill>
              <a:srgbClr val="2E8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 lIns="50800" rIns="50800"/>
          <a:lstStyle/>
          <a:p>
            <a:pPr algn="ctr"/>
            <a:r>
              <a:rPr sz="1250" b="1" i="0">
                <a:solidFill>
                  <a:srgbClr val="112B4A"/>
                </a:solidFill>
                <a:latin typeface="Calibri"/>
              </a:rPr>
              <a:t>Full 196-token
ego sequence</a:t>
            </a:r>
          </a:p>
          <a:p>
            <a:pPr algn="ctr"/>
            <a:r>
              <a:rPr sz="950" b="0" i="0">
                <a:solidFill>
                  <a:srgbClr val="1E5EA8"/>
                </a:solidFill>
                <a:latin typeface="Calibri"/>
              </a:rPr>
              <a:t>vs. 1 pooled token (H2)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054596" y="2084832"/>
            <a:ext cx="441198" cy="237744"/>
          </a:xfrm>
          <a:prstGeom prst="rightArrow">
            <a:avLst/>
          </a:prstGeom>
          <a:solidFill>
            <a:srgbClr val="AEBC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495794" y="1600200"/>
            <a:ext cx="1920240" cy="1207008"/>
          </a:xfrm>
          <a:prstGeom prst="roundRect">
            <a:avLst/>
          </a:prstGeom>
          <a:solidFill>
            <a:srgbClr val="E4F0FC"/>
          </a:solidFill>
          <a:ln w="28575">
            <a:solidFill>
              <a:srgbClr val="2E8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 lIns="50800" rIns="50800"/>
          <a:lstStyle/>
          <a:p>
            <a:pPr algn="ctr"/>
            <a:r>
              <a:rPr sz="1250" b="1" i="0">
                <a:solidFill>
                  <a:srgbClr val="112B4A"/>
                </a:solidFill>
                <a:latin typeface="Calibri"/>
              </a:rPr>
              <a:t>Diffusion Denoiser</a:t>
            </a:r>
          </a:p>
          <a:p>
            <a:pPr algn="ctr"/>
            <a:r>
              <a:rPr sz="950" b="0" i="0">
                <a:solidFill>
                  <a:srgbClr val="1E5EA8"/>
                </a:solidFill>
                <a:latin typeface="Calibri"/>
              </a:rPr>
              <a:t>self-attn [z, t, ego] · ONLY TRAINED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416034" y="2084832"/>
            <a:ext cx="441198" cy="237744"/>
          </a:xfrm>
          <a:prstGeom prst="rightArrow">
            <a:avLst/>
          </a:prstGeom>
          <a:solidFill>
            <a:srgbClr val="AEBC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857232" y="1600200"/>
            <a:ext cx="1920240" cy="1207008"/>
          </a:xfrm>
          <a:prstGeom prst="roundRect">
            <a:avLst/>
          </a:prstGeom>
          <a:solidFill>
            <a:srgbClr val="ECEFF2"/>
          </a:solidFill>
          <a:ln w="28575">
            <a:solidFill>
              <a:srgbClr val="939E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 lIns="50800" rIns="50800"/>
          <a:lstStyle/>
          <a:p>
            <a:pPr algn="ctr"/>
            <a:r>
              <a:rPr sz="1250" b="1" i="0">
                <a:solidFill>
                  <a:srgbClr val="3A444E"/>
                </a:solidFill>
                <a:latin typeface="Calibri"/>
              </a:rPr>
              <a:t>Frozen VAE decoder</a:t>
            </a:r>
          </a:p>
          <a:p>
            <a:pPr algn="ctr"/>
            <a:r>
              <a:rPr sz="950" b="0" i="0">
                <a:solidFill>
                  <a:srgbClr val="5B6672"/>
                </a:solidFill>
                <a:latin typeface="Calibri"/>
              </a:rPr>
              <a:t>4×256 latent → 263-D motion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063240"/>
            <a:ext cx="292608" cy="219456"/>
          </a:xfrm>
          <a:prstGeom prst="roundRect">
            <a:avLst/>
          </a:prstGeom>
          <a:solidFill>
            <a:srgbClr val="E4F0FC"/>
          </a:solidFill>
          <a:ln w="25400">
            <a:solidFill>
              <a:srgbClr val="2E8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035808"/>
            <a:ext cx="4206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50" b="0" i="0">
                <a:solidFill>
                  <a:srgbClr val="1F2A37"/>
                </a:solidFill>
                <a:latin typeface="Calibri"/>
              </a:rPr>
              <a:t>New / changed by us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80560" y="3063240"/>
            <a:ext cx="292608" cy="219456"/>
          </a:xfrm>
          <a:prstGeom prst="roundRect">
            <a:avLst/>
          </a:prstGeom>
          <a:solidFill>
            <a:srgbClr val="ECEFF2"/>
          </a:solidFill>
          <a:ln w="25400">
            <a:solidFill>
              <a:srgbClr val="939E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46320" y="3035808"/>
            <a:ext cx="4206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50" b="0" i="0">
                <a:solidFill>
                  <a:srgbClr val="1F2A37"/>
                </a:solidFill>
                <a:latin typeface="Calibri"/>
              </a:rPr>
              <a:t>Reused &amp; frozen (HumanML3D VAE + evaluators)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520440"/>
            <a:ext cx="1115568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</a:pPr>
            <a:r>
              <a:rPr sz="1500" b="1" i="0">
                <a:solidFill>
                  <a:srgbClr val="2E86DE"/>
                </a:solidFill>
                <a:latin typeface="Calibri"/>
              </a:rPr>
              <a:t>  Replaced</a:t>
            </a:r>
            <a:r>
              <a:rPr sz="1500" b="0" i="0">
                <a:solidFill>
                  <a:srgbClr val="1F2A37"/>
                </a:solidFill>
                <a:latin typeface="Calibri"/>
              </a:rPr>
              <a:t> text/CLIP conditioning with vehicle ego-trajectory conditioning (retain MLD's VAE, denoiser backbone, evaluators).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2E86DE"/>
                </a:solidFill>
                <a:latin typeface="Calibri"/>
              </a:rPr>
              <a:t>  New</a:t>
            </a:r>
            <a:r>
              <a:rPr sz="1500" b="0" i="0">
                <a:solidFill>
                  <a:srgbClr val="1F2A37"/>
                </a:solidFill>
                <a:latin typeface="Calibri"/>
              </a:rPr>
              <a:t> frozen ego encoder — a transformer pretrained to align ego trajectories with the VAE motion latents, then frozen during diffusion.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2E86DE"/>
                </a:solidFill>
                <a:latin typeface="Calibri"/>
              </a:rPr>
              <a:t>  Changed</a:t>
            </a:r>
            <a:r>
              <a:rPr sz="1500" b="0" i="0">
                <a:solidFill>
                  <a:srgbClr val="1F2A37"/>
                </a:solidFill>
                <a:latin typeface="Calibri"/>
              </a:rPr>
              <a:t> conditioning granularity: the denoiser sees all 196 per-timestep ego tokens (vs. a single pooled token) — the source of the 49% FID gain.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2E86DE"/>
                </a:solidFill>
                <a:latin typeface="Calibri"/>
              </a:rPr>
              <a:t>  New</a:t>
            </a:r>
            <a:r>
              <a:rPr sz="1500" b="0" i="0">
                <a:solidFill>
                  <a:srgbClr val="1F2A37"/>
                </a:solidFill>
                <a:latin typeface="Calibri"/>
              </a:rPr>
              <a:t> interaction-aware data pipeline: interaction scoring, weighted oversampling, and closest-approach 196-frame cropping.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5B6672"/>
                </a:solidFill>
                <a:latin typeface="Calibri"/>
              </a:rPr>
              <a:t>  Unchanged</a:t>
            </a:r>
            <a:r>
              <a:rPr sz="1500" b="0" i="0">
                <a:solidFill>
                  <a:srgbClr val="1F2A37"/>
                </a:solidFill>
                <a:latin typeface="Calibri"/>
              </a:rPr>
              <a:t> only the denoiser is trained; the HumanML3D VAE and the pretrained ego encoder stay frozen throughout.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1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 i="0">
                <a:solidFill>
                  <a:srgbClr val="9EC4EC"/>
                </a:solidFill>
                <a:latin typeface="Calibri"/>
              </a:rPr>
              <a:t>DATA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Dataset: A New Ego–Pedestrian Benchmark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1124712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•  Three sources: nuScenes + Waymo (scale, diversity) and AVA — our sensor vehicle contributing a small, deliberately STAGED high-interaction subset (close-range encounters rare in public data). Pipeline: MS3D annotation → per-camera 3D SMPL (adapted OmniRe) → stitch → 263-D HumanML3D → pair with ego odometry (pedestrian-centric frame).</a:t>
            </a:r>
          </a:p>
          <a:p>
            <a:pPr>
              <a:spcAft>
                <a:spcPts val="7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•  Interaction-aware: score = travel × (%frames within 5 m) × relative-bearing change → weighted sampling + closest-approach 196-frame crop.</a:t>
            </a:r>
          </a:p>
          <a:p>
            <a:pPr>
              <a:spcAft>
                <a:spcPts val="7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•  11,954 paired samples, scene-disjoint train/val split: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3749039"/>
          <a:ext cx="6035038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3930"/>
                <a:gridCol w="1137036"/>
                <a:gridCol w="1137036"/>
                <a:gridCol w="1137036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Source</a:t>
                      </a:r>
                    </a:p>
                  </a:txBody>
                  <a:tcPr marT="38100" marB="38100" marL="88900">
                    <a:solidFill>
                      <a:srgbClr val="112B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Train</a:t>
                      </a:r>
                    </a:p>
                  </a:txBody>
                  <a:tcPr marT="38100" marB="38100" marL="88900">
                    <a:solidFill>
                      <a:srgbClr val="112B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Val</a:t>
                      </a:r>
                    </a:p>
                  </a:txBody>
                  <a:tcPr marT="38100" marB="38100" marL="88900">
                    <a:solidFill>
                      <a:srgbClr val="112B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T="38100" marB="38100" marL="88900">
                    <a:solidFill>
                      <a:srgbClr val="112B4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F2A37"/>
                          </a:solidFill>
                          <a:latin typeface="Calibri"/>
                        </a:rPr>
                        <a:t>AVA (ours)</a:t>
                      </a:r>
                    </a:p>
                  </a:txBody>
                  <a:tcPr marT="25400" marB="25400" marL="88900">
                    <a:solidFill>
                      <a:srgbClr val="EFF4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F2A37"/>
                          </a:solidFill>
                          <a:latin typeface="Calibri"/>
                        </a:rPr>
                        <a:t>27</a:t>
                      </a:r>
                    </a:p>
                  </a:txBody>
                  <a:tcPr marT="25400" marB="25400" marL="88900">
                    <a:solidFill>
                      <a:srgbClr val="EFF4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F2A37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T="25400" marB="25400" marL="88900">
                    <a:solidFill>
                      <a:srgbClr val="EFF4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F2A37"/>
                          </a:solidFill>
                          <a:latin typeface="Calibri"/>
                        </a:rPr>
                        <a:t>34</a:t>
                      </a:r>
                    </a:p>
                  </a:txBody>
                  <a:tcPr marT="25400" marB="25400" marL="88900">
                    <a:solidFill>
                      <a:srgbClr val="EFF4F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F2A37"/>
                          </a:solidFill>
                          <a:latin typeface="Calibri"/>
                        </a:rPr>
                        <a:t>nuScenes</a:t>
                      </a:r>
                    </a:p>
                  </a:txBody>
                  <a:tcPr marT="25400" marB="25400" marL="889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F2A37"/>
                          </a:solidFill>
                          <a:latin typeface="Calibri"/>
                        </a:rPr>
                        <a:t>3,637</a:t>
                      </a:r>
                    </a:p>
                  </a:txBody>
                  <a:tcPr marT="25400" marB="25400" marL="889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F2A37"/>
                          </a:solidFill>
                          <a:latin typeface="Calibri"/>
                        </a:rPr>
                        <a:t>943</a:t>
                      </a:r>
                    </a:p>
                  </a:txBody>
                  <a:tcPr marT="25400" marB="25400" marL="889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F2A37"/>
                          </a:solidFill>
                          <a:latin typeface="Calibri"/>
                        </a:rPr>
                        <a:t>4,580</a:t>
                      </a:r>
                    </a:p>
                  </a:txBody>
                  <a:tcPr marT="25400" marB="25400" marL="889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F2A37"/>
                          </a:solidFill>
                          <a:latin typeface="Calibri"/>
                        </a:rPr>
                        <a:t>Waymo Open Dataset</a:t>
                      </a:r>
                    </a:p>
                  </a:txBody>
                  <a:tcPr marT="25400" marB="25400" marL="88900">
                    <a:solidFill>
                      <a:srgbClr val="EFF4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F2A37"/>
                          </a:solidFill>
                          <a:latin typeface="Calibri"/>
                        </a:rPr>
                        <a:t>5,876</a:t>
                      </a:r>
                    </a:p>
                  </a:txBody>
                  <a:tcPr marT="25400" marB="25400" marL="88900">
                    <a:solidFill>
                      <a:srgbClr val="EFF4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F2A37"/>
                          </a:solidFill>
                          <a:latin typeface="Calibri"/>
                        </a:rPr>
                        <a:t>1,464</a:t>
                      </a:r>
                    </a:p>
                  </a:txBody>
                  <a:tcPr marT="25400" marB="25400" marL="88900">
                    <a:solidFill>
                      <a:srgbClr val="EFF4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F2A37"/>
                          </a:solidFill>
                          <a:latin typeface="Calibri"/>
                        </a:rPr>
                        <a:t>7,340</a:t>
                      </a:r>
                    </a:p>
                  </a:txBody>
                  <a:tcPr marT="25400" marB="25400" marL="88900">
                    <a:solidFill>
                      <a:srgbClr val="EFF4F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112B4A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T="25400" marB="25400" marL="88900">
                    <a:solidFill>
                      <a:srgbClr val="DDEC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112B4A"/>
                          </a:solidFill>
                          <a:latin typeface="Calibri"/>
                        </a:rPr>
                        <a:t>9,540</a:t>
                      </a:r>
                    </a:p>
                  </a:txBody>
                  <a:tcPr marT="25400" marB="25400" marL="88900">
                    <a:solidFill>
                      <a:srgbClr val="DDEC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112B4A"/>
                          </a:solidFill>
                          <a:latin typeface="Calibri"/>
                        </a:rPr>
                        <a:t>2,414</a:t>
                      </a:r>
                    </a:p>
                  </a:txBody>
                  <a:tcPr marT="25400" marB="25400" marL="88900">
                    <a:solidFill>
                      <a:srgbClr val="DDEC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112B4A"/>
                          </a:solidFill>
                          <a:latin typeface="Calibri"/>
                        </a:rPr>
                        <a:t>11,954</a:t>
                      </a:r>
                    </a:p>
                  </a:txBody>
                  <a:tcPr marT="25400" marB="25400" marL="88900">
                    <a:solidFill>
                      <a:srgbClr val="DDEC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1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 i="0">
                <a:solidFill>
                  <a:srgbClr val="9EC4EC"/>
                </a:solidFill>
                <a:latin typeface="Calibri"/>
              </a:rPr>
              <a:t>−49% FID VS POOLED BASELINE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Main Result: Full-Sequence Conditioning Wins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463040"/>
          <a:ext cx="10881358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48269"/>
                <a:gridCol w="2365513"/>
                <a:gridCol w="1537583"/>
                <a:gridCol w="1537583"/>
                <a:gridCol w="1892410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 marT="38100" marB="38100" marL="88900">
                    <a:solidFill>
                      <a:srgbClr val="112B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FID ↓</a:t>
                      </a:r>
                    </a:p>
                  </a:txBody>
                  <a:tcPr marT="38100" marB="38100" marL="88900">
                    <a:solidFill>
                      <a:srgbClr val="112B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R@1</a:t>
                      </a:r>
                    </a:p>
                  </a:txBody>
                  <a:tcPr marT="38100" marB="38100" marL="88900">
                    <a:solidFill>
                      <a:srgbClr val="112B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MM</a:t>
                      </a:r>
                    </a:p>
                  </a:txBody>
                  <a:tcPr marT="38100" marB="38100" marL="88900">
                    <a:solidFill>
                      <a:srgbClr val="112B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Diversity</a:t>
                      </a:r>
                    </a:p>
                  </a:txBody>
                  <a:tcPr marT="38100" marB="38100" marL="88900">
                    <a:solidFill>
                      <a:srgbClr val="112B4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A37"/>
                          </a:solidFill>
                          <a:latin typeface="Calibri"/>
                        </a:rPr>
                        <a:t>H2 Pooled (baseline)</a:t>
                      </a:r>
                    </a:p>
                  </a:txBody>
                  <a:tcPr marT="25400" marB="25400" marL="88900">
                    <a:solidFill>
                      <a:srgbClr val="EFF4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1F2A37"/>
                          </a:solidFill>
                          <a:latin typeface="Calibri"/>
                        </a:rPr>
                        <a:t>6.603 ± 0.067</a:t>
                      </a:r>
                    </a:p>
                  </a:txBody>
                  <a:tcPr marT="25400" marB="25400" marL="88900">
                    <a:solidFill>
                      <a:srgbClr val="EFF4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1F2A37"/>
                          </a:solidFill>
                          <a:latin typeface="Calibri"/>
                        </a:rPr>
                        <a:t>0.671</a:t>
                      </a:r>
                    </a:p>
                  </a:txBody>
                  <a:tcPr marT="25400" marB="25400" marL="88900">
                    <a:solidFill>
                      <a:srgbClr val="EFF4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1F2A37"/>
                          </a:solidFill>
                          <a:latin typeface="Calibri"/>
                        </a:rPr>
                        <a:t>3.50</a:t>
                      </a:r>
                    </a:p>
                  </a:txBody>
                  <a:tcPr marT="25400" marB="25400" marL="88900">
                    <a:solidFill>
                      <a:srgbClr val="EFF4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1F2A37"/>
                          </a:solidFill>
                          <a:latin typeface="Calibri"/>
                        </a:rPr>
                        <a:t>5.78</a:t>
                      </a:r>
                    </a:p>
                  </a:txBody>
                  <a:tcPr marT="25400" marB="25400" marL="88900">
                    <a:solidFill>
                      <a:srgbClr val="EFF4F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12B4A"/>
                          </a:solidFill>
                          <a:latin typeface="Calibri"/>
                        </a:rPr>
                        <a:t>H4 Full-sequence (ours)</a:t>
                      </a:r>
                    </a:p>
                  </a:txBody>
                  <a:tcPr marT="25400" marB="25400" marL="88900">
                    <a:solidFill>
                      <a:srgbClr val="DDEC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112B4A"/>
                          </a:solidFill>
                          <a:latin typeface="Calibri"/>
                        </a:rPr>
                        <a:t>3.392 ± 0.179</a:t>
                      </a:r>
                    </a:p>
                  </a:txBody>
                  <a:tcPr marT="25400" marB="25400" marL="88900">
                    <a:solidFill>
                      <a:srgbClr val="DDEC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112B4A"/>
                          </a:solidFill>
                          <a:latin typeface="Calibri"/>
                        </a:rPr>
                        <a:t>0.548</a:t>
                      </a:r>
                    </a:p>
                  </a:txBody>
                  <a:tcPr marT="25400" marB="25400" marL="88900">
                    <a:solidFill>
                      <a:srgbClr val="DDEC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112B4A"/>
                          </a:solidFill>
                          <a:latin typeface="Calibri"/>
                        </a:rPr>
                        <a:t>3.96</a:t>
                      </a:r>
                    </a:p>
                  </a:txBody>
                  <a:tcPr marT="25400" marB="25400" marL="88900">
                    <a:solidFill>
                      <a:srgbClr val="DDEC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112B4A"/>
                          </a:solidFill>
                          <a:latin typeface="Calibri"/>
                        </a:rPr>
                        <a:t>5.79</a:t>
                      </a:r>
                    </a:p>
                  </a:txBody>
                  <a:tcPr marT="25400" marB="25400" marL="88900">
                    <a:solidFill>
                      <a:srgbClr val="DDECF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A37"/>
                          </a:solidFill>
                          <a:latin typeface="Calibri"/>
                        </a:rPr>
                        <a:t>Ground truth (reference)</a:t>
                      </a:r>
                    </a:p>
                  </a:txBody>
                  <a:tcPr marT="25400" marB="25400" marL="88900">
                    <a:solidFill>
                      <a:srgbClr val="EFF4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1F2A3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T="25400" marB="25400" marL="88900">
                    <a:solidFill>
                      <a:srgbClr val="EFF4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1F2A3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T="25400" marB="25400" marL="88900">
                    <a:solidFill>
                      <a:srgbClr val="EFF4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1F2A3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T="25400" marB="25400" marL="88900">
                    <a:solidFill>
                      <a:srgbClr val="EFF4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1F2A37"/>
                          </a:solidFill>
                          <a:latin typeface="Calibri"/>
                        </a:rPr>
                        <a:t>5.50</a:t>
                      </a:r>
                    </a:p>
                  </a:txBody>
                  <a:tcPr marT="25400" marB="25400" marL="88900">
                    <a:solidFill>
                      <a:srgbClr val="EFF4F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3291840"/>
            <a:ext cx="1106424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</a:pPr>
            <a:r>
              <a:rPr sz="1600" b="0" i="0">
                <a:solidFill>
                  <a:srgbClr val="1F2A37"/>
                </a:solidFill>
                <a:latin typeface="Calibri"/>
              </a:rPr>
              <a:t>•  49% FID improvement over the strongest pooled baseline — confidence intervals are NON-OVERLAPPING (significant).</a:t>
            </a:r>
          </a:p>
          <a:p>
            <a:pPr>
              <a:spcAft>
                <a:spcPts val="700"/>
              </a:spcAft>
            </a:pPr>
            <a:r>
              <a:rPr sz="1600" b="0" i="0">
                <a:solidFill>
                  <a:srgbClr val="1F2A37"/>
                </a:solidFill>
                <a:latin typeface="Calibri"/>
              </a:rPr>
              <a:t>•  H4's best checkpoint occurs EARLIER in training (epoch 3399 vs 4399) → the gain is not from extra compute.</a:t>
            </a:r>
          </a:p>
          <a:p>
            <a:pPr>
              <a:spcAft>
                <a:spcPts val="700"/>
              </a:spcAft>
            </a:pPr>
            <a:r>
              <a:rPr sz="1600" b="0" i="0">
                <a:solidFill>
                  <a:srgbClr val="1F2A37"/>
                </a:solidFill>
                <a:latin typeface="Calibri"/>
              </a:rPr>
              <a:t>•  Evaluation: HumanML3D protocol (FID, R-Precision@1, MultiModality, Diversity); 3 replications, 95% CI.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1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 i="0">
                <a:solidFill>
                  <a:srgbClr val="9EC4EC"/>
                </a:solidFill>
                <a:latin typeface="Calibri"/>
              </a:rPr>
              <a:t>FULL-SEQUENCE CONDITIONING IS CFG-ROBUST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Guidance-Scale Behavior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463040" y="1554480"/>
          <a:ext cx="9235438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5407"/>
                <a:gridCol w="3338110"/>
                <a:gridCol w="3671921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CFG scale</a:t>
                      </a:r>
                    </a:p>
                  </a:txBody>
                  <a:tcPr marT="38100" marB="38100" marL="88900">
                    <a:solidFill>
                      <a:srgbClr val="112B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H2 Pooled FID ↓</a:t>
                      </a:r>
                    </a:p>
                  </a:txBody>
                  <a:tcPr marT="38100" marB="38100" marL="88900">
                    <a:solidFill>
                      <a:srgbClr val="112B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H4 Full-sequence FID ↓</a:t>
                      </a:r>
                    </a:p>
                  </a:txBody>
                  <a:tcPr marT="38100" marB="38100" marL="88900">
                    <a:solidFill>
                      <a:srgbClr val="112B4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600" b="0" i="0">
                          <a:solidFill>
                            <a:srgbClr val="1F2A37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T="25400" marB="25400" marL="88900">
                    <a:solidFill>
                      <a:srgbClr val="EFF4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i="0">
                          <a:solidFill>
                            <a:srgbClr val="1F2A37"/>
                          </a:solidFill>
                          <a:latin typeface="Calibri"/>
                        </a:rPr>
                        <a:t>6.603</a:t>
                      </a:r>
                    </a:p>
                  </a:txBody>
                  <a:tcPr marT="25400" marB="25400" marL="88900">
                    <a:solidFill>
                      <a:srgbClr val="EFF4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i="0">
                          <a:solidFill>
                            <a:srgbClr val="1F2A37"/>
                          </a:solidFill>
                          <a:latin typeface="Calibri"/>
                        </a:rPr>
                        <a:t>3.842</a:t>
                      </a:r>
                    </a:p>
                  </a:txBody>
                  <a:tcPr marT="25400" marB="25400" marL="88900">
                    <a:solidFill>
                      <a:srgbClr val="EFF4F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600" b="1" i="0">
                          <a:solidFill>
                            <a:srgbClr val="112B4A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T="25400" marB="25400" marL="88900">
                    <a:solidFill>
                      <a:srgbClr val="DDEC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i="0">
                          <a:solidFill>
                            <a:srgbClr val="112B4A"/>
                          </a:solidFill>
                          <a:latin typeface="Calibri"/>
                        </a:rPr>
                        <a:t>6.963</a:t>
                      </a:r>
                    </a:p>
                  </a:txBody>
                  <a:tcPr marT="25400" marB="25400" marL="88900">
                    <a:solidFill>
                      <a:srgbClr val="DDEC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i="0">
                          <a:solidFill>
                            <a:srgbClr val="112B4A"/>
                          </a:solidFill>
                          <a:latin typeface="Calibri"/>
                        </a:rPr>
                        <a:t>3.392  (best)</a:t>
                      </a:r>
                    </a:p>
                  </a:txBody>
                  <a:tcPr marT="25400" marB="25400" marL="88900">
                    <a:solidFill>
                      <a:srgbClr val="DDECF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600" b="0" i="0">
                          <a:solidFill>
                            <a:srgbClr val="1F2A37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T="25400" marB="25400" marL="88900">
                    <a:solidFill>
                      <a:srgbClr val="EFF4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i="0">
                          <a:solidFill>
                            <a:srgbClr val="1F2A37"/>
                          </a:solidFill>
                          <a:latin typeface="Calibri"/>
                        </a:rPr>
                        <a:t>7.400</a:t>
                      </a:r>
                    </a:p>
                  </a:txBody>
                  <a:tcPr marT="25400" marB="25400" marL="88900">
                    <a:solidFill>
                      <a:srgbClr val="EFF4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i="0">
                          <a:solidFill>
                            <a:srgbClr val="1F2A37"/>
                          </a:solidFill>
                          <a:latin typeface="Calibri"/>
                        </a:rPr>
                        <a:t>3.547</a:t>
                      </a:r>
                    </a:p>
                  </a:txBody>
                  <a:tcPr marT="25400" marB="25400" marL="88900">
                    <a:solidFill>
                      <a:srgbClr val="EFF4F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3840480"/>
            <a:ext cx="1106424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</a:pPr>
            <a:r>
              <a:rPr sz="1600" b="0" i="0">
                <a:solidFill>
                  <a:srgbClr val="1F2A37"/>
                </a:solidFill>
                <a:latin typeface="Calibri"/>
              </a:rPr>
              <a:t>•  Full-sequence conditioning is nearly INSENSITIVE to the CFG scale; pooled conditioning degrades steeply at higher guidance.</a:t>
            </a:r>
          </a:p>
          <a:p>
            <a:pPr>
              <a:spcAft>
                <a:spcPts val="700"/>
              </a:spcAft>
            </a:pPr>
            <a:r>
              <a:rPr sz="1600" b="0" i="0">
                <a:solidFill>
                  <a:srgbClr val="1F2A37"/>
                </a:solidFill>
                <a:latin typeface="Calibri"/>
              </a:rPr>
              <a:t>•  The rich 196-token ego signal is over-determined, so higher guidance amplifies an already high-fidelity signal rather than forcing mode collapse onto a coarse pooled token.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1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 i="0">
                <a:solidFill>
                  <a:srgbClr val="9EC4EC"/>
                </a:solidFill>
                <a:latin typeface="Calibri"/>
              </a:rPr>
              <a:t>H3: LATENT DIM 8 VS 4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Ablation 1 — Larger Latent (rejected)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</a:pPr>
            <a:r>
              <a:rPr sz="1800" b="0" i="0">
                <a:solidFill>
                  <a:srgbClr val="1F2A37"/>
                </a:solidFill>
                <a:latin typeface="Calibri"/>
              </a:rPr>
              <a:t>•  Hypothesis: a larger VAE latent (dim 8 vs 4) gives more capacity and better generation.</a:t>
            </a:r>
          </a:p>
          <a:p>
            <a:pPr>
              <a:spcAft>
                <a:spcPts val="700"/>
              </a:spcAft>
            </a:pPr>
            <a:r>
              <a:rPr sz="1800" b="0" i="0">
                <a:solidFill>
                  <a:srgbClr val="1F2A37"/>
                </a:solidFill>
                <a:latin typeface="Calibri"/>
              </a:rPr>
              <a:t>•  Result: latent-8 is 14.5% WORSE FID (7.563 vs 6.603) at matched epoch &amp; CFG; R-Precision essentially unchanged (0.676 vs 0.671).</a:t>
            </a:r>
          </a:p>
          <a:p>
            <a:pPr>
              <a:spcAft>
                <a:spcPts val="700"/>
              </a:spcAft>
            </a:pPr>
            <a:r>
              <a:rPr sz="1800" b="0" i="0">
                <a:solidFill>
                  <a:srgbClr val="1F2A37"/>
                </a:solidFill>
                <a:latin typeface="Calibri"/>
              </a:rPr>
              <a:t>•  Lesson: increasing latent dimension without scaling the denoiser is counterproductive — the conditioning bottleneck is the ego representation, not the latent size.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1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 i="0">
                <a:solidFill>
                  <a:srgbClr val="9EC4EC"/>
                </a:solidFill>
                <a:latin typeface="Calibri"/>
              </a:rPr>
              <a:t>FREEZING IS CRITICAL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Ablation 2 — Frozen vs Unfrozen Ego Encoder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463040"/>
          <a:ext cx="5943598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56452"/>
                <a:gridCol w="1119808"/>
                <a:gridCol w="1033669"/>
                <a:gridCol w="1033669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System</a:t>
                      </a:r>
                    </a:p>
                  </a:txBody>
                  <a:tcPr marT="38100" marB="38100" marL="88900">
                    <a:solidFill>
                      <a:srgbClr val="112B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FID ↓</a:t>
                      </a:r>
                    </a:p>
                  </a:txBody>
                  <a:tcPr marT="38100" marB="38100" marL="88900">
                    <a:solidFill>
                      <a:srgbClr val="112B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R@1</a:t>
                      </a:r>
                    </a:p>
                  </a:txBody>
                  <a:tcPr marT="38100" marB="38100" marL="88900">
                    <a:solidFill>
                      <a:srgbClr val="112B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MM</a:t>
                      </a:r>
                    </a:p>
                  </a:txBody>
                  <a:tcPr marT="38100" marB="38100" marL="88900">
                    <a:solidFill>
                      <a:srgbClr val="112B4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112B4A"/>
                          </a:solidFill>
                          <a:latin typeface="Calibri"/>
                        </a:rPr>
                        <a:t>H4 (frozen ego encoder)</a:t>
                      </a:r>
                    </a:p>
                  </a:txBody>
                  <a:tcPr marT="25400" marB="25400" marL="88900">
                    <a:solidFill>
                      <a:srgbClr val="DDEC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112B4A"/>
                          </a:solidFill>
                          <a:latin typeface="Calibri"/>
                        </a:rPr>
                        <a:t>3.392</a:t>
                      </a:r>
                    </a:p>
                  </a:txBody>
                  <a:tcPr marT="25400" marB="25400" marL="88900">
                    <a:solidFill>
                      <a:srgbClr val="DDEC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112B4A"/>
                          </a:solidFill>
                          <a:latin typeface="Calibri"/>
                        </a:rPr>
                        <a:t>0.548</a:t>
                      </a:r>
                    </a:p>
                  </a:txBody>
                  <a:tcPr marT="25400" marB="25400" marL="88900">
                    <a:solidFill>
                      <a:srgbClr val="DDEC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112B4A"/>
                          </a:solidFill>
                          <a:latin typeface="Calibri"/>
                        </a:rPr>
                        <a:t>3.96</a:t>
                      </a:r>
                    </a:p>
                  </a:txBody>
                  <a:tcPr marT="25400" marB="25400" marL="88900">
                    <a:solidFill>
                      <a:srgbClr val="DDECF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F2A37"/>
                          </a:solidFill>
                          <a:latin typeface="Calibri"/>
                        </a:rPr>
                        <a:t>H6 (unfrozen ego encoder)</a:t>
                      </a:r>
                    </a:p>
                  </a:txBody>
                  <a:tcPr marT="25400" marB="25400" marL="889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F2A37"/>
                          </a:solidFill>
                          <a:latin typeface="Calibri"/>
                        </a:rPr>
                        <a:t>5.079</a:t>
                      </a:r>
                    </a:p>
                  </a:txBody>
                  <a:tcPr marT="25400" marB="25400" marL="889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F2A37"/>
                          </a:solidFill>
                          <a:latin typeface="Calibri"/>
                        </a:rPr>
                        <a:t>0.352</a:t>
                      </a:r>
                    </a:p>
                  </a:txBody>
                  <a:tcPr marT="25400" marB="25400" marL="889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i="0">
                          <a:solidFill>
                            <a:srgbClr val="1F2A37"/>
                          </a:solidFill>
                          <a:latin typeface="Calibri"/>
                        </a:rPr>
                        <a:t>2.618</a:t>
                      </a:r>
                    </a:p>
                  </a:txBody>
                  <a:tcPr marT="25400" marB="25400" marL="889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3200400"/>
            <a:ext cx="594360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</a:pPr>
            <a:r>
              <a:rPr sz="1400" b="0" i="0">
                <a:solidFill>
                  <a:srgbClr val="1F2A37"/>
                </a:solidFill>
                <a:latin typeface="Calibri"/>
              </a:rPr>
              <a:t>•  Unfreezing is WORSE on all metrics; MultiModality collapses −34% (2.62 vs 3.96).</a:t>
            </a:r>
          </a:p>
          <a:p>
            <a:pPr>
              <a:spcAft>
                <a:spcPts val="700"/>
              </a:spcAft>
            </a:pPr>
            <a:r>
              <a:rPr sz="1400" b="0" i="0">
                <a:solidFill>
                  <a:srgbClr val="1F2A37"/>
                </a:solidFill>
                <a:latin typeface="Calibri"/>
              </a:rPr>
              <a:t>•  The encoder over-specializes to discriminative per-condition features, narrowing generation.</a:t>
            </a:r>
          </a:p>
          <a:p>
            <a:pPr>
              <a:spcAft>
                <a:spcPts val="700"/>
              </a:spcAft>
            </a:pPr>
            <a:r>
              <a:rPr sz="1400" b="0" i="0">
                <a:solidFill>
                  <a:srgbClr val="1F2A37"/>
                </a:solidFill>
                <a:latin typeface="Calibri"/>
              </a:rPr>
              <a:t>•  Matches the frozen-encoder paradigm (CLIP in Stable Diffusion; ControlNet / IP-Adapter).</a:t>
            </a:r>
          </a:p>
        </p:txBody>
      </p:sp>
      <p:pic>
        <p:nvPicPr>
          <p:cNvPr id="7" name="Picture 6" descr="h6_training_curv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276407"/>
            <a:ext cx="5394960" cy="294526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17220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0" i="1">
                <a:solidFill>
                  <a:srgbClr val="5B6672"/>
                </a:solidFill>
                <a:latin typeface="Calibri"/>
              </a:rPr>
              <a:t>H6 training trajectory: FID never approaches H4's operating point (dashed).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1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 i="0">
                <a:solidFill>
                  <a:srgbClr val="9EC4EC"/>
                </a:solidFill>
                <a:latin typeface="Calibri"/>
              </a:rPr>
              <a:t>THE MECHANISM DOESN'T MATTER; THE FULL SEQUENCE DOES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Ablation 3 — Self-Attention vs Cross-Attention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554480"/>
          <a:ext cx="10515598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90976"/>
                <a:gridCol w="2445488"/>
                <a:gridCol w="1589567"/>
                <a:gridCol w="1589567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Denoiser (full 196-token ego)</a:t>
                      </a:r>
                    </a:p>
                  </a:txBody>
                  <a:tcPr marT="38100" marB="38100" marL="88900">
                    <a:solidFill>
                      <a:srgbClr val="112B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FID ↓</a:t>
                      </a:r>
                    </a:p>
                  </a:txBody>
                  <a:tcPr marT="38100" marB="38100" marL="88900">
                    <a:solidFill>
                      <a:srgbClr val="112B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R@1</a:t>
                      </a:r>
                    </a:p>
                  </a:txBody>
                  <a:tcPr marT="38100" marB="38100" marL="88900">
                    <a:solidFill>
                      <a:srgbClr val="112B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MM</a:t>
                      </a:r>
                    </a:p>
                  </a:txBody>
                  <a:tcPr marT="38100" marB="38100" marL="88900">
                    <a:solidFill>
                      <a:srgbClr val="112B4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12B4A"/>
                          </a:solidFill>
                          <a:latin typeface="Calibri"/>
                        </a:rPr>
                        <a:t>Self-attention over concatenation (ours)</a:t>
                      </a:r>
                    </a:p>
                  </a:txBody>
                  <a:tcPr marT="25400" marB="25400" marL="88900">
                    <a:solidFill>
                      <a:srgbClr val="DDEC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112B4A"/>
                          </a:solidFill>
                          <a:latin typeface="Calibri"/>
                        </a:rPr>
                        <a:t>3.338 ± 0.190</a:t>
                      </a:r>
                    </a:p>
                  </a:txBody>
                  <a:tcPr marT="25400" marB="25400" marL="88900">
                    <a:solidFill>
                      <a:srgbClr val="DDEC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112B4A"/>
                          </a:solidFill>
                          <a:latin typeface="Calibri"/>
                        </a:rPr>
                        <a:t>0.537</a:t>
                      </a:r>
                    </a:p>
                  </a:txBody>
                  <a:tcPr marT="25400" marB="25400" marL="88900">
                    <a:solidFill>
                      <a:srgbClr val="DDEC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112B4A"/>
                          </a:solidFill>
                          <a:latin typeface="Calibri"/>
                        </a:rPr>
                        <a:t>4.14</a:t>
                      </a:r>
                    </a:p>
                  </a:txBody>
                  <a:tcPr marT="25400" marB="25400" marL="88900">
                    <a:solidFill>
                      <a:srgbClr val="DDECF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A37"/>
                          </a:solidFill>
                          <a:latin typeface="Calibri"/>
                        </a:rPr>
                        <a:t>Cross-attention (queries / keys-values)</a:t>
                      </a:r>
                    </a:p>
                  </a:txBody>
                  <a:tcPr marT="25400" marB="25400" marL="889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1F2A37"/>
                          </a:solidFill>
                          <a:latin typeface="Calibri"/>
                        </a:rPr>
                        <a:t>3.490 ± 0.059</a:t>
                      </a:r>
                    </a:p>
                  </a:txBody>
                  <a:tcPr marT="25400" marB="25400" marL="889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1F2A37"/>
                          </a:solidFill>
                          <a:latin typeface="Calibri"/>
                        </a:rPr>
                        <a:t>0.501</a:t>
                      </a:r>
                    </a:p>
                  </a:txBody>
                  <a:tcPr marT="25400" marB="25400" marL="889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1F2A37"/>
                          </a:solidFill>
                          <a:latin typeface="Calibri"/>
                        </a:rPr>
                        <a:t>4.61</a:t>
                      </a:r>
                    </a:p>
                  </a:txBody>
                  <a:tcPr marT="25400" marB="25400" marL="889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3383280"/>
            <a:ext cx="1106424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</a:pPr>
            <a:r>
              <a:rPr sz="1600" b="0" i="0">
                <a:solidFill>
                  <a:srgbClr val="1F2A37"/>
                </a:solidFill>
                <a:latin typeface="Calibri"/>
              </a:rPr>
              <a:t>•  Matched control: same frozen VAE + ego encoder, same data, same effective batch; evaluated on the held-out test split.</a:t>
            </a:r>
          </a:p>
          <a:p>
            <a:pPr>
              <a:spcAft>
                <a:spcPts val="700"/>
              </a:spcAft>
            </a:pPr>
            <a:r>
              <a:rPr sz="1600" b="0" i="0">
                <a:solidFill>
                  <a:srgbClr val="1F2A37"/>
                </a:solidFill>
                <a:latin typeface="Calibri"/>
              </a:rPr>
              <a:t>•  The two are STATISTICALLY COMPARABLE (95% CIs [3.15, 3.53] vs [3.43, 3.55] overlap) — cross-attention gives no advantage.</a:t>
            </a:r>
          </a:p>
          <a:p>
            <a:pPr>
              <a:spcAft>
                <a:spcPts val="700"/>
              </a:spcAft>
            </a:pPr>
            <a:r>
              <a:rPr sz="1600" b="0" i="0">
                <a:solidFill>
                  <a:srgbClr val="1F2A37"/>
                </a:solidFill>
                <a:latin typeface="Calibri"/>
              </a:rPr>
              <a:t>•  Takeaway: the improvement comes from exposing the denoiser to the FULL per-timestep ego sequence, not from the specific attention mechanism.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1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 i="0">
                <a:solidFill>
                  <a:srgbClr val="9EC4EC"/>
                </a:solidFill>
                <a:latin typeface="Calibri"/>
              </a:rPr>
              <a:t>VALIDATION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Held-Out Test &amp; Reference Baselines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•  Generalization: on a scene-disjoint held-out test split, the best system reproduces its headline number (FID 3.38 vs 3.39 on full validation) → not a selection artifact.</a:t>
            </a:r>
          </a:p>
          <a:p>
            <a:pPr>
              <a:spcAft>
                <a:spcPts val="7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•  Reference baselines that bound the metric space (FID ↓):</a:t>
            </a:r>
          </a:p>
          <a:p>
            <a:pPr lvl="1">
              <a:spcAft>
                <a:spcPts val="700"/>
              </a:spcAft>
            </a:pPr>
            <a:r>
              <a:rPr sz="1400" b="0" i="0">
                <a:solidFill>
                  <a:srgbClr val="5B6672"/>
                </a:solidFill>
                <a:latin typeface="Calibri"/>
              </a:rPr>
              <a:t>–  Retrieval — copy nearest-ego training motion: 0.06 (memorization sanity check, non-generative).</a:t>
            </a:r>
          </a:p>
          <a:p>
            <a:pPr lvl="1">
              <a:spcAft>
                <a:spcPts val="700"/>
              </a:spcAft>
            </a:pPr>
            <a:r>
              <a:rPr sz="1400" b="0" i="0">
                <a:solidFill>
                  <a:srgbClr val="5B6672"/>
                </a:solidFill>
                <a:latin typeface="Calibri"/>
              </a:rPr>
              <a:t>–  Unconditional prior (ego zeroed): 5.18 → ego conditioning improves it to 3.39 (−34%).</a:t>
            </a:r>
          </a:p>
          <a:p>
            <a:pPr lvl="1">
              <a:spcAft>
                <a:spcPts val="700"/>
              </a:spcAft>
            </a:pPr>
            <a:r>
              <a:rPr sz="1400" b="0" i="0">
                <a:solidFill>
                  <a:srgbClr val="5B6672"/>
                </a:solidFill>
                <a:latin typeface="Calibri"/>
              </a:rPr>
              <a:t>–  VAE latent interpolation: 7.91.   Trajectory + static/mean body: 48–50 (task needs articulated motion).</a:t>
            </a:r>
          </a:p>
          <a:p>
            <a:pPr>
              <a:spcAft>
                <a:spcPts val="700"/>
              </a:spcAft>
            </a:pPr>
            <a:r>
              <a:rPr sz="1500" b="0" i="0">
                <a:solidFill>
                  <a:srgbClr val="1F2A37"/>
                </a:solidFill>
                <a:latin typeface="Calibri"/>
              </a:rPr>
              <a:t>•  Unconditional R@1 = 0.031 = exactly chance (1/32): retrieval protocol sanity check passes.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1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 i="0">
                <a:solidFill>
                  <a:srgbClr val="9EC4EC"/>
                </a:solidFill>
                <a:latin typeface="Calibri"/>
              </a:rPr>
              <a:t>WHAT WE RECOMMEND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Design Recipe &amp; Contributions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</a:pPr>
            <a:r>
              <a:rPr sz="1600" b="0" i="0">
                <a:solidFill>
                  <a:srgbClr val="1F2A37"/>
                </a:solidFill>
                <a:latin typeface="Calibri"/>
              </a:rPr>
              <a:t>•  First system to generate full 3D HumanML3D body motion conditioned on vehicle ego odometry (AVA + nuScenes + Waymo).</a:t>
            </a:r>
          </a:p>
          <a:p>
            <a:pPr>
              <a:spcAft>
                <a:spcPts val="700"/>
              </a:spcAft>
            </a:pPr>
            <a:r>
              <a:rPr sz="1600" b="0" i="0">
                <a:solidFill>
                  <a:srgbClr val="1F2A37"/>
                </a:solidFill>
                <a:latin typeface="Calibri"/>
              </a:rPr>
              <a:t>•  Full-sequence temporal conditioning beats single-token pooled conditioning by 49% FID — robust to CFG and to the attention mechanism.</a:t>
            </a:r>
          </a:p>
          <a:p>
            <a:pPr>
              <a:spcAft>
                <a:spcPts val="700"/>
              </a:spcAft>
            </a:pPr>
            <a:r>
              <a:rPr sz="1600" b="0" i="0">
                <a:solidFill>
                  <a:srgbClr val="1F2A37"/>
                </a:solidFill>
                <a:latin typeface="Calibri"/>
              </a:rPr>
              <a:t>•  Frozen ego encoder is critical — unfreezing collapses generation diversity.</a:t>
            </a:r>
          </a:p>
          <a:p>
            <a:pPr>
              <a:spcAft>
                <a:spcPts val="700"/>
              </a:spcAft>
            </a:pPr>
            <a:r>
              <a:rPr sz="1600" b="0" i="0">
                <a:solidFill>
                  <a:srgbClr val="1F2A37"/>
                </a:solidFill>
                <a:latin typeface="Calibri"/>
              </a:rPr>
              <a:t>•  Recommended recipe:</a:t>
            </a:r>
          </a:p>
          <a:p>
            <a:pPr lvl="1">
              <a:spcAft>
                <a:spcPts val="700"/>
              </a:spcAft>
            </a:pPr>
            <a:r>
              <a:rPr sz="1500" b="0" i="0">
                <a:solidFill>
                  <a:srgbClr val="5B6672"/>
                </a:solidFill>
                <a:latin typeface="Calibri"/>
              </a:rPr>
              <a:t>–  Pretrain the ego encoder contrastively on frozen VAE latents → freeze it → condition the denoiser on the full ego sequence.</a:t>
            </a:r>
          </a:p>
          <a:p>
            <a:pPr lvl="1">
              <a:spcAft>
                <a:spcPts val="700"/>
              </a:spcAft>
            </a:pPr>
            <a:r>
              <a:rPr sz="1500" b="0" i="0">
                <a:solidFill>
                  <a:srgbClr val="5B6672"/>
                </a:solidFill>
                <a:latin typeface="Calibri"/>
              </a:rPr>
              <a:t>–  Use CFG ≈ 10; select checkpoints on validation FID (not the final checkpoint).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1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 i="0">
                <a:solidFill>
                  <a:srgbClr val="9EC4EC"/>
                </a:solidFill>
                <a:latin typeface="Calibri"/>
              </a:rPr>
              <a:t>H4, EPOCH 3399, CFG = 10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Qualitative Results</a:t>
            </a:r>
          </a:p>
        </p:txBody>
      </p:sp>
      <p:pic>
        <p:nvPicPr>
          <p:cNvPr id="5" name="Picture 4" descr="qualitatives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12456"/>
            <a:ext cx="11064240" cy="43988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17220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0" i="1">
                <a:solidFill>
                  <a:srgbClr val="5B6672"/>
                </a:solidFill>
                <a:latin typeface="Calibri"/>
              </a:rPr>
              <a:t>Generated 3D body motion + bird's-eye trajectory: predicted (blue), ground-truth (orange), ego vehicle (red).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1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 i="0">
                <a:solidFill>
                  <a:srgbClr val="9EC4EC"/>
                </a:solidFill>
                <a:latin typeface="Calibri"/>
              </a:rPr>
              <a:t>STATUS &amp; OUTLOOK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Limitations &amp;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</a:pPr>
            <a:r>
              <a:rPr sz="1600" b="0" i="0">
                <a:solidFill>
                  <a:srgbClr val="1F2A37"/>
                </a:solidFill>
                <a:latin typeface="Calibri"/>
              </a:rPr>
              <a:t>•  Estimated (not ground-truth) 3D pose labels → noise in training targets.</a:t>
            </a:r>
          </a:p>
          <a:p>
            <a:pPr>
              <a:spcAft>
                <a:spcPts val="700"/>
              </a:spcAft>
            </a:pPr>
            <a:r>
              <a:rPr sz="1600" b="0" i="0">
                <a:solidFill>
                  <a:srgbClr val="1F2A37"/>
                </a:solidFill>
                <a:latin typeface="Calibri"/>
              </a:rPr>
              <a:t>•  Conditioning scope: only 2D ego trajectory; relative pedestrian–ego geometry, velocity, or map elements could improve fidelity.</a:t>
            </a:r>
          </a:p>
          <a:p>
            <a:pPr>
              <a:spcAft>
                <a:spcPts val="700"/>
              </a:spcAft>
            </a:pPr>
            <a:r>
              <a:rPr sz="1600" b="0" i="0">
                <a:solidFill>
                  <a:srgbClr val="1F2A37"/>
                </a:solidFill>
                <a:latin typeface="Calibri"/>
              </a:rPr>
              <a:t>•  R@1 gap (0.548 vs pooled 0.671) — a real conditioning-vs-diversity tradeoff; adapter-style tuning is a promising next step.</a:t>
            </a:r>
          </a:p>
          <a:p>
            <a:pPr>
              <a:spcAft>
                <a:spcPts val="700"/>
              </a:spcAft>
            </a:pPr>
            <a:r>
              <a:rPr sz="1600" b="0" i="0">
                <a:solidFill>
                  <a:srgbClr val="1F2A37"/>
                </a:solidFill>
                <a:latin typeface="Calibri"/>
              </a:rPr>
              <a:t>•  No physics constraints; single benchmark; no human perceptual study yet.</a:t>
            </a:r>
          </a:p>
          <a:p>
            <a:pPr>
              <a:spcAft>
                <a:spcPts val="700"/>
              </a:spcAft>
            </a:pPr>
            <a:r>
              <a:rPr sz="1600" b="0" i="0">
                <a:solidFill>
                  <a:srgbClr val="1F2A37"/>
                </a:solidFill>
                <a:latin typeface="Calibri"/>
              </a:rPr>
              <a:t>•  Status: main results, three ablations, and held-out validation complete; paper draft in progress.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EF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053328"/>
            <a:ext cx="11064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112B4A"/>
                </a:solidFill>
                <a:latin typeface="Calibri"/>
              </a:rPr>
              <a:t>EgoPed  —  full-sequence ego conditioning + frozen encoder: a strong, validated recipe.  Thank you — questions &amp; discussion welcome.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