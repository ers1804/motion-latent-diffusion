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445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36576"/>
            <a:ext cx="8092440" cy="8046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Calibri"/>
              </a:rPr>
              <a:t>EgoPed</a:t>
            </a:r>
            <a:r>
              <a:rPr sz="1250" b="0" i="0">
                <a:solidFill>
                  <a:srgbClr val="CFE1F5"/>
                </a:solidFill>
                <a:latin typeface="Calibri"/>
              </a:rPr>
              <a:t>   ·   Ego-Conditioned Pedestrian Motion Generation via Latent Diffusion</a:t>
            </a:r>
          </a:p>
          <a:p>
            <a:r>
              <a:rPr sz="950" b="0" i="0">
                <a:solidFill>
                  <a:srgbClr val="9EC4EC"/>
                </a:solidFill>
                <a:latin typeface="Calibri"/>
              </a:rPr>
              <a:t>3D full-body motion conditioned on vehicle ego trajectory  ·  MLD backbone  ·  AVA + nuScenes + Waymo (11,954)</a:t>
            </a:r>
          </a:p>
        </p:txBody>
      </p:sp>
      <p:sp>
        <p:nvSpPr>
          <p:cNvPr id="5" name="Rectangle 4"/>
          <p:cNvSpPr/>
          <p:nvPr/>
        </p:nvSpPr>
        <p:spPr>
          <a:xfrm>
            <a:off x="8458200" y="155448"/>
            <a:ext cx="3429000" cy="566928"/>
          </a:xfrm>
          <a:prstGeom prst="rect">
            <a:avLst/>
          </a:prstGeom>
          <a:solidFill>
            <a:srgbClr val="1B4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0" y="173736"/>
            <a:ext cx="3337560" cy="53035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900" b="1" i="0">
                <a:solidFill>
                  <a:srgbClr val="8FE3AC"/>
                </a:solidFill>
                <a:latin typeface="Calibri"/>
              </a:rPr>
              <a:t>FID 2.880</a:t>
            </a:r>
            <a:r>
              <a:rPr sz="1200" b="0" i="0">
                <a:solidFill>
                  <a:srgbClr val="C9F2D8"/>
                </a:solidFill>
                <a:latin typeface="Calibri"/>
              </a:rPr>
              <a:t>   −40% vs pooled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024128"/>
            <a:ext cx="5897880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050" b="1" i="0">
                <a:solidFill>
                  <a:srgbClr val="1E5EA8"/>
                </a:solidFill>
                <a:latin typeface="Calibri"/>
              </a:rPr>
              <a:t>THE IDEA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248156"/>
            <a:ext cx="5897880" cy="1778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325880"/>
            <a:ext cx="589788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spcAft>
                <a:spcPts val="35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▪  Replace MLD's text conditioning with the vehicle ego trajectory.</a:t>
            </a:r>
          </a:p>
          <a:p>
            <a:pPr>
              <a:spcAft>
                <a:spcPts val="35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▪  Feed the denoiser ALL 196 per-timestep ego tokens — not one pooled summary — so every denoising step has temporal resolution over the trajectory.</a:t>
            </a:r>
          </a:p>
          <a:p>
            <a:pPr>
              <a:spcAft>
                <a:spcPts val="35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▪  Ego encoder is contrastively pretrained, then FROZEN; only the denoiser trains.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304288"/>
            <a:ext cx="5897880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050" b="1" i="0">
                <a:solidFill>
                  <a:srgbClr val="1E5EA8"/>
                </a:solidFill>
                <a:latin typeface="Calibri"/>
              </a:rPr>
              <a:t>MAIN RESULTS  ·  UNIFIED EVALUATION, 3 REPLICATIONS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2528316"/>
            <a:ext cx="5897880" cy="1778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2606040"/>
          <a:ext cx="5897878" cy="15041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9566"/>
                <a:gridCol w="931244"/>
                <a:gridCol w="807078"/>
                <a:gridCol w="744995"/>
                <a:gridCol w="744995"/>
              </a:tblGrid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System</a:t>
                      </a:r>
                    </a:p>
                  </a:txBody>
                  <a:tcPr marL="50800" marT="0" marB="0">
                    <a:solidFill>
                      <a:srgbClr val="11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FID ↓</a:t>
                      </a:r>
                    </a:p>
                  </a:txBody>
                  <a:tcPr marL="50800" marT="0" marB="0">
                    <a:solidFill>
                      <a:srgbClr val="11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R@1</a:t>
                      </a:r>
                    </a:p>
                  </a:txBody>
                  <a:tcPr marL="50800" marT="0" marB="0">
                    <a:solidFill>
                      <a:srgbClr val="11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MM</a:t>
                      </a:r>
                    </a:p>
                  </a:txBody>
                  <a:tcPr marL="50800" marT="0" marB="0">
                    <a:solidFill>
                      <a:srgbClr val="11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Div</a:t>
                      </a:r>
                    </a:p>
                  </a:txBody>
                  <a:tcPr marL="50800" marT="0" marB="0">
                    <a:solidFill>
                      <a:srgbClr val="112B4A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157A38"/>
                          </a:solidFill>
                          <a:latin typeface="Calibri"/>
                        </a:rPr>
                        <a:t>EgoPed-IA  (+ interaction sampling)</a:t>
                      </a:r>
                    </a:p>
                  </a:txBody>
                  <a:tcPr marL="50800" marT="0" marB="0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157A38"/>
                          </a:solidFill>
                          <a:latin typeface="Calibri"/>
                        </a:rPr>
                        <a:t>2.880</a:t>
                      </a:r>
                    </a:p>
                  </a:txBody>
                  <a:tcPr marL="50800" marT="0" marB="0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157A38"/>
                          </a:solidFill>
                          <a:latin typeface="Calibri"/>
                        </a:rPr>
                        <a:t>0.323</a:t>
                      </a:r>
                    </a:p>
                  </a:txBody>
                  <a:tcPr marL="50800" marT="0" marB="0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157A38"/>
                          </a:solidFill>
                          <a:latin typeface="Calibri"/>
                        </a:rPr>
                        <a:t>3.37</a:t>
                      </a:r>
                    </a:p>
                  </a:txBody>
                  <a:tcPr marL="50800" marT="0" marB="0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157A38"/>
                          </a:solidFill>
                          <a:latin typeface="Calibri"/>
                        </a:rPr>
                        <a:t>5.67</a:t>
                      </a:r>
                    </a:p>
                  </a:txBody>
                  <a:tcPr marL="50800" marT="0" marB="0">
                    <a:solidFill>
                      <a:srgbClr val="DCEEE1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EgoPed  (full-sequence conditioning)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3.392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0.548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3.96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5.79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Unfrozen encoder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5.079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0.352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2.62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6.06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Pooled-token baseline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5.620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0.665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3.71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5.82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Larger latent (8 vs 4)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6.677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0.663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3.37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5.89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Ground truth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5.50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4315968"/>
            <a:ext cx="5897880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050" b="1" i="0">
                <a:solidFill>
                  <a:srgbClr val="1E5EA8"/>
                </a:solidFill>
                <a:latin typeface="Calibri"/>
              </a:rPr>
              <a:t>ARCHITECTURE VS. DATA CURATION  ·  2×2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4539996"/>
            <a:ext cx="5897880" cy="1778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4617720"/>
          <a:ext cx="5897880" cy="6446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2057400"/>
                <a:gridCol w="2057400"/>
              </a:tblGrid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FID ↓</a:t>
                      </a:r>
                    </a:p>
                  </a:txBody>
                  <a:tcPr marL="50800" marT="0" marB="0">
                    <a:solidFill>
                      <a:srgbClr val="11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− interaction sampling</a:t>
                      </a:r>
                    </a:p>
                  </a:txBody>
                  <a:tcPr marL="50800" marT="0" marB="0">
                    <a:solidFill>
                      <a:srgbClr val="11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+ interaction sampling</a:t>
                      </a:r>
                    </a:p>
                  </a:txBody>
                  <a:tcPr marL="50800" marT="0" marB="0">
                    <a:solidFill>
                      <a:srgbClr val="112B4A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Pooled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6.214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5.620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157A38"/>
                          </a:solidFill>
                          <a:latin typeface="Calibri"/>
                        </a:rPr>
                        <a:t>Full-sequence</a:t>
                      </a:r>
                    </a:p>
                  </a:txBody>
                  <a:tcPr marL="50800" marT="0" marB="0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157A38"/>
                          </a:solidFill>
                          <a:latin typeface="Calibri"/>
                        </a:rPr>
                        <a:t>3.392</a:t>
                      </a:r>
                    </a:p>
                  </a:txBody>
                  <a:tcPr marL="50800" marT="0" marB="0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157A38"/>
                          </a:solidFill>
                          <a:latin typeface="Calibri"/>
                        </a:rPr>
                        <a:t>2.880</a:t>
                      </a:r>
                    </a:p>
                  </a:txBody>
                  <a:tcPr marL="50800" marT="0" marB="0">
                    <a:solidFill>
                      <a:srgbClr val="DCEEE1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320040" y="5349240"/>
            <a:ext cx="58978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950" b="0" i="1">
                <a:solidFill>
                  <a:srgbClr val="5B6672"/>
                </a:solidFill>
                <a:latin typeface="Calibri"/>
              </a:rPr>
              <a:t>Conditioning granularity dominates (≈2.7 FID in both columns, ~5× the data effect); the two effects are additive → the headline is conservative, not inflated.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1024128"/>
            <a:ext cx="5422392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050" b="1" i="0">
                <a:solidFill>
                  <a:srgbClr val="1E5EA8"/>
                </a:solidFill>
                <a:latin typeface="Calibri"/>
              </a:rPr>
              <a:t>WHAT ACTUALLY MATTERS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46520" y="1248156"/>
            <a:ext cx="5422392" cy="1778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446520" y="1325880"/>
          <a:ext cx="5422391" cy="1289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8251"/>
                <a:gridCol w="1417216"/>
                <a:gridCol w="1786924"/>
              </a:tblGrid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marL="50800" marT="0" marB="0">
                    <a:solidFill>
                      <a:srgbClr val="11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Finding</a:t>
                      </a:r>
                    </a:p>
                  </a:txBody>
                  <a:tcPr marL="50800" marT="0" marB="0">
                    <a:solidFill>
                      <a:srgbClr val="11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 marL="50800" marT="0" marB="0">
                    <a:solidFill>
                      <a:srgbClr val="112B4A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Unfreeze the ego encoder?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MM 3.96→2.62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freezing critical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Skip encoder pretraining?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R@1 = chance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≈ unconditional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Cross- instead of self-attention?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3.49 vs 3.34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no difference (p=.33)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Bigger VAE latent (8 vs 4)?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6.68 vs 5.62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19% worse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Different training seed?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3.39/4.72/4.80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real variance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446520" y="2788920"/>
            <a:ext cx="5422392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050" b="1" i="0">
                <a:solidFill>
                  <a:srgbClr val="1E5EA8"/>
                </a:solidFill>
                <a:latin typeface="Calibri"/>
              </a:rPr>
              <a:t>EXTERNAL BASELINES  ·  CAPABILITY LADDER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46520" y="3012948"/>
            <a:ext cx="5422392" cy="1778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6446520" y="3090672"/>
          <a:ext cx="5422391" cy="17190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23882"/>
                <a:gridCol w="839179"/>
                <a:gridCol w="2259330"/>
              </a:tblGrid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Approach</a:t>
                      </a:r>
                    </a:p>
                  </a:txBody>
                  <a:tcPr marL="50800" marT="0" marB="0">
                    <a:solidFill>
                      <a:srgbClr val="11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FID ↓</a:t>
                      </a:r>
                    </a:p>
                  </a:txBody>
                  <a:tcPr marL="50800" marT="0" marB="0">
                    <a:solidFill>
                      <a:srgbClr val="11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Reading</a:t>
                      </a:r>
                    </a:p>
                  </a:txBody>
                  <a:tcPr marL="50800" marT="0" marB="0">
                    <a:solidFill>
                      <a:srgbClr val="112B4A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157A38"/>
                          </a:solidFill>
                          <a:latin typeface="Calibri"/>
                        </a:rPr>
                        <a:t>EgoPed-IA (ours)</a:t>
                      </a:r>
                    </a:p>
                  </a:txBody>
                  <a:tcPr marL="50800" marT="0" marB="0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157A38"/>
                          </a:solidFill>
                          <a:latin typeface="Calibri"/>
                        </a:rPr>
                        <a:t>2.88</a:t>
                      </a:r>
                    </a:p>
                  </a:txBody>
                  <a:tcPr marL="50800" marT="0" marB="0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157A38"/>
                          </a:solidFill>
                          <a:latin typeface="Calibri"/>
                        </a:rPr>
                        <a:t>in-domain, ego-conditioned</a:t>
                      </a:r>
                    </a:p>
                  </a:txBody>
                  <a:tcPr marL="50800" marT="0" marB="0">
                    <a:solidFill>
                      <a:srgbClr val="DCEEE1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Unconditional, properly trained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3.24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≈ H4 — FID is blind to conditioning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Unconditional prior (ego zeroed)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5.18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a weak null branch, not a prior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Pretrained text-to-motion MLD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14.07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T2M does not transfer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Raw-space diffusion (MDM-style)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26.43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latent backbone justified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Ego→motion regressor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35.47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L2-optimal, unrealistic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Trajectory + static body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47.7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needs articulated motion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6446520" y="4709160"/>
            <a:ext cx="5422392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050" b="1" i="0">
                <a:solidFill>
                  <a:srgbClr val="1E5EA8"/>
                </a:solidFill>
                <a:latin typeface="Calibri"/>
              </a:rPr>
              <a:t>VALIDATED ON FOUR INDEPENDENT AXES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46520" y="4933188"/>
            <a:ext cx="5422392" cy="1778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5010912"/>
            <a:ext cx="5422392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spcAft>
                <a:spcPts val="35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▪  FID — 40% over pooled (non-overlapping CIs); but a trained prior also reaches 3.24, so FID alone does not credit conditioning.</a:t>
            </a:r>
          </a:p>
          <a:p>
            <a:pPr>
              <a:spcAft>
                <a:spcPts val="35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▪  Held-out split — scene-disjoint, never used for selection: ranking preserved.</a:t>
            </a:r>
          </a:p>
          <a:p>
            <a:pPr>
              <a:spcAft>
                <a:spcPts val="35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▪  Trajectory ADE/FDE — no learned evaluator: beats pooled on all 4 metrics despite lower R@1 → the R@1 gap is an embedding artifact.</a:t>
            </a:r>
          </a:p>
          <a:p>
            <a:pPr>
              <a:spcAft>
                <a:spcPts val="35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▪  Behavioral probe — best coupling of stop/walk decisions to the ego; unconditional model is ego-blind (sanity ✓).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EF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6263640"/>
            <a:ext cx="12191695" cy="1905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0040" y="6291072"/>
            <a:ext cx="1152144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r>
              <a:rPr sz="950" b="1" i="0">
                <a:solidFill>
                  <a:srgbClr val="1E5EA8"/>
                </a:solidFill>
                <a:latin typeface="Calibri"/>
              </a:rPr>
              <a:t>IN FLIGHT: </a:t>
            </a:r>
            <a:r>
              <a:rPr sz="950" b="0" i="0">
                <a:solidFill>
                  <a:srgbClr val="1F2A37"/>
                </a:solidFill>
                <a:latin typeface="Calibri"/>
              </a:rPr>
              <a:t>information ladder — 0 bits (trained unconditional: FID 3.24) → 5.17 bits vehicle-only text (training) → 6.09 bits oracle text incl. GT behaviour (eval pending) → continuous trajectory (2.88). FID compares marginals; conditioning shows in ADE/FDE + behaviour. </a:t>
            </a:r>
            <a:r>
              <a:rPr sz="950" b="1" i="0">
                <a:solidFill>
                  <a:srgbClr val="1E5EA8"/>
                </a:solidFill>
                <a:latin typeface="Calibri"/>
              </a:rPr>
              <a:t>Open: </a:t>
            </a:r>
            <a:r>
              <a:rPr sz="950" b="0" i="0">
                <a:solidFill>
                  <a:srgbClr val="1F2A37"/>
                </a:solidFill>
                <a:latin typeface="Calibri"/>
              </a:rPr>
              <a:t>pose-label quality audit · EgoPed-IA is single-seed · no physics constraints · no perceptual study yet.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